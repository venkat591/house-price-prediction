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800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200"/>
                </a:lnTo>
                <a:lnTo>
                  <a:pt x="12192000" y="457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9B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4125"/>
            <a:ext cx="12192000" cy="66675"/>
          </a:xfrm>
          <a:custGeom>
            <a:avLst/>
            <a:gdLst/>
            <a:ahLst/>
            <a:cxnLst/>
            <a:rect l="l" t="t" r="r" b="b"/>
            <a:pathLst>
              <a:path w="12192000" h="66675">
                <a:moveTo>
                  <a:pt x="12192000" y="0"/>
                </a:moveTo>
                <a:lnTo>
                  <a:pt x="0" y="0"/>
                </a:lnTo>
                <a:lnTo>
                  <a:pt x="0" y="66675"/>
                </a:lnTo>
                <a:lnTo>
                  <a:pt x="12192000" y="66675"/>
                </a:lnTo>
                <a:lnTo>
                  <a:pt x="121920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1830" y="223774"/>
            <a:ext cx="7957819" cy="888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60720" y="2692336"/>
            <a:ext cx="5901055" cy="2957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4353" y="452489"/>
            <a:ext cx="1330917" cy="10891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67620" y="433410"/>
            <a:ext cx="6214504" cy="107149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60265" y="2063178"/>
            <a:ext cx="343344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C00000"/>
                </a:solidFill>
                <a:latin typeface="Yu Gothic UI Semibold"/>
                <a:cs typeface="Yu Gothic UI Semibold"/>
              </a:rPr>
              <a:t>PRESENTATION</a:t>
            </a:r>
            <a:r>
              <a:rPr sz="3000" spc="-114" dirty="0">
                <a:solidFill>
                  <a:srgbClr val="C00000"/>
                </a:solidFill>
                <a:latin typeface="Yu Gothic UI Semibold"/>
                <a:cs typeface="Yu Gothic UI Semibold"/>
              </a:rPr>
              <a:t> </a:t>
            </a:r>
            <a:r>
              <a:rPr sz="3000" spc="-25" dirty="0">
                <a:solidFill>
                  <a:srgbClr val="C00000"/>
                </a:solidFill>
                <a:latin typeface="Yu Gothic UI Semibold"/>
                <a:cs typeface="Yu Gothic UI Semibold"/>
              </a:rPr>
              <a:t>ON</a:t>
            </a:r>
            <a:endParaRPr sz="3000">
              <a:latin typeface="Yu Gothic UI Semibold"/>
              <a:cs typeface="Yu Gothic UI Semibold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47999" y="2886963"/>
            <a:ext cx="6214504" cy="439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dirty="0">
                <a:latin typeface="Yu Gothic UI Semibold"/>
                <a:cs typeface="Yu Gothic UI Semibold"/>
              </a:rPr>
              <a:t>EDA</a:t>
            </a:r>
            <a:r>
              <a:rPr sz="2750" b="1" spc="135" dirty="0">
                <a:latin typeface="Yu Gothic UI Semibold"/>
                <a:cs typeface="Yu Gothic UI Semibold"/>
              </a:rPr>
              <a:t> </a:t>
            </a:r>
            <a:r>
              <a:rPr sz="2750" b="1" dirty="0">
                <a:latin typeface="Yu Gothic UI Semibold"/>
                <a:cs typeface="Yu Gothic UI Semibold"/>
              </a:rPr>
              <a:t>ON</a:t>
            </a:r>
            <a:r>
              <a:rPr sz="2750" b="1" spc="95" dirty="0">
                <a:latin typeface="Yu Gothic UI Semibold"/>
                <a:cs typeface="Yu Gothic UI Semibold"/>
              </a:rPr>
              <a:t> </a:t>
            </a:r>
            <a:r>
              <a:rPr lang="en-US" sz="2750" b="1" spc="95" dirty="0">
                <a:latin typeface="Yu Gothic UI Semibold"/>
                <a:cs typeface="Yu Gothic UI Semibold"/>
              </a:rPr>
              <a:t>HOUSING PRICES</a:t>
            </a:r>
            <a:r>
              <a:rPr sz="2750" b="1" spc="110" dirty="0">
                <a:latin typeface="Yu Gothic UI Semibold"/>
                <a:cs typeface="Yu Gothic UI Semibold"/>
              </a:rPr>
              <a:t> </a:t>
            </a:r>
            <a:r>
              <a:rPr sz="2750" b="1" spc="-10" dirty="0">
                <a:latin typeface="Yu Gothic UI Semibold"/>
                <a:cs typeface="Yu Gothic UI Semibold"/>
              </a:rPr>
              <a:t>DATASET</a:t>
            </a:r>
            <a:endParaRPr sz="2750" dirty="0">
              <a:latin typeface="Yu Gothic UI Semibold"/>
              <a:cs typeface="Yu Gothic UI Semibol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86801" y="4696460"/>
            <a:ext cx="3048000" cy="1606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2565"/>
              </a:lnSpc>
              <a:spcBef>
                <a:spcPts val="130"/>
              </a:spcBef>
            </a:pPr>
            <a:r>
              <a:rPr sz="2150" b="1" dirty="0">
                <a:latin typeface="Yu Gothic UI Semibold"/>
                <a:cs typeface="Yu Gothic UI Semibold"/>
              </a:rPr>
              <a:t>PRESENTED</a:t>
            </a:r>
            <a:r>
              <a:rPr sz="2150" b="1" spc="200" dirty="0">
                <a:latin typeface="Yu Gothic UI Semibold"/>
                <a:cs typeface="Yu Gothic UI Semibold"/>
              </a:rPr>
              <a:t> </a:t>
            </a:r>
            <a:r>
              <a:rPr sz="2150" b="1" spc="-25" dirty="0">
                <a:latin typeface="Yu Gothic UI Semibold"/>
                <a:cs typeface="Yu Gothic UI Semibold"/>
              </a:rPr>
              <a:t>BY</a:t>
            </a:r>
            <a:endParaRPr sz="2150" dirty="0">
              <a:latin typeface="Yu Gothic UI Semibold"/>
              <a:cs typeface="Yu Gothic UI Semibold"/>
            </a:endParaRPr>
          </a:p>
          <a:p>
            <a:pPr marL="12700" marR="600075">
              <a:lnSpc>
                <a:spcPts val="2400"/>
              </a:lnSpc>
              <a:spcBef>
                <a:spcPts val="65"/>
              </a:spcBef>
            </a:pPr>
            <a:r>
              <a:rPr lang="en-US" sz="2000" b="1" spc="-10" dirty="0">
                <a:latin typeface="Yu Gothic UI Semibold"/>
                <a:cs typeface="Yu Gothic UI Semibold"/>
              </a:rPr>
              <a:t>N.RAJESHWAR RAO</a:t>
            </a:r>
            <a:r>
              <a:rPr sz="2000" b="1" spc="-10" dirty="0">
                <a:latin typeface="Yu Gothic UI Semibold"/>
                <a:cs typeface="Yu Gothic UI Semibold"/>
              </a:rPr>
              <a:t> </a:t>
            </a:r>
            <a:endParaRPr lang="en-US" sz="2000" b="1" spc="-10" dirty="0">
              <a:latin typeface="Yu Gothic UI Semibold"/>
              <a:cs typeface="Yu Gothic UI Semibold"/>
            </a:endParaRPr>
          </a:p>
          <a:p>
            <a:pPr marL="12700" marR="600075">
              <a:lnSpc>
                <a:spcPts val="2400"/>
              </a:lnSpc>
              <a:spcBef>
                <a:spcPts val="65"/>
              </a:spcBef>
            </a:pPr>
            <a:r>
              <a:rPr lang="en-IN" sz="2000" b="1" spc="-10" dirty="0">
                <a:latin typeface="Yu Gothic UI Semibold"/>
                <a:cs typeface="Yu Gothic UI Semibold"/>
              </a:rPr>
              <a:t>M.VENKAT</a:t>
            </a:r>
          </a:p>
          <a:p>
            <a:pPr marL="12700" marR="600075">
              <a:lnSpc>
                <a:spcPts val="2400"/>
              </a:lnSpc>
              <a:spcBef>
                <a:spcPts val="65"/>
              </a:spcBef>
            </a:pPr>
            <a:r>
              <a:rPr lang="en-IN" sz="2000" b="1" spc="-10" dirty="0">
                <a:latin typeface="Yu Gothic UI Semibold"/>
                <a:cs typeface="Yu Gothic UI Semibold"/>
              </a:rPr>
              <a:t>SAINI KAVYA</a:t>
            </a:r>
            <a:endParaRPr sz="2000" dirty="0">
              <a:latin typeface="Yu Gothic UI Semibold"/>
              <a:cs typeface="Yu Gothic UI Semibold"/>
            </a:endParaRPr>
          </a:p>
          <a:p>
            <a:pPr marL="12700">
              <a:lnSpc>
                <a:spcPts val="2325"/>
              </a:lnSpc>
            </a:pPr>
            <a:endParaRPr sz="2000" dirty="0">
              <a:latin typeface="Yu Gothic UI Semibold"/>
              <a:cs typeface="Yu Gothic UI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3110" rIns="0" bIns="0" rtlCol="0">
            <a:spAutoFit/>
          </a:bodyPr>
          <a:lstStyle/>
          <a:p>
            <a:pPr marL="361061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57" y="1248473"/>
            <a:ext cx="10881995" cy="44728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512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1939289" algn="l"/>
                <a:tab pos="2677160" algn="l"/>
                <a:tab pos="3836670" algn="l"/>
                <a:tab pos="4692650" algn="l"/>
                <a:tab pos="5044440" algn="l"/>
                <a:tab pos="5800090" algn="l"/>
                <a:tab pos="6221730" algn="l"/>
                <a:tab pos="7800975" algn="l"/>
                <a:tab pos="8938895" algn="l"/>
                <a:tab pos="9568815" algn="l"/>
              </a:tabLst>
            </a:pPr>
            <a:r>
              <a:rPr lang="en-US" sz="2400" dirty="0">
                <a:latin typeface="+mn-lt"/>
              </a:rPr>
              <a:t>Exploratory Data Analysis (EDA) is used to understand the housing price data </a:t>
            </a:r>
          </a:p>
          <a:p>
            <a:pPr marL="355600" marR="5080" indent="-343535">
              <a:lnSpc>
                <a:spcPct val="1512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1939289" algn="l"/>
                <a:tab pos="2677160" algn="l"/>
                <a:tab pos="3836670" algn="l"/>
                <a:tab pos="4692650" algn="l"/>
                <a:tab pos="5044440" algn="l"/>
                <a:tab pos="5800090" algn="l"/>
                <a:tab pos="6221730" algn="l"/>
                <a:tab pos="7800975" algn="l"/>
                <a:tab pos="8938895" algn="l"/>
                <a:tab pos="9568815" algn="l"/>
              </a:tabLst>
            </a:pPr>
            <a:r>
              <a:rPr lang="en-US" sz="2400" dirty="0">
                <a:latin typeface="+mn-lt"/>
              </a:rPr>
              <a:t>It helps analyze property prices in relation to factors such as area, location, number of bedrooms, and other housing features.</a:t>
            </a:r>
          </a:p>
          <a:p>
            <a:pPr marL="355600" marR="5080" indent="-343535">
              <a:lnSpc>
                <a:spcPct val="1512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1939289" algn="l"/>
                <a:tab pos="2677160" algn="l"/>
                <a:tab pos="3836670" algn="l"/>
                <a:tab pos="4692650" algn="l"/>
                <a:tab pos="5044440" algn="l"/>
                <a:tab pos="5800090" algn="l"/>
                <a:tab pos="6221730" algn="l"/>
                <a:tab pos="7800975" algn="l"/>
                <a:tab pos="8938895" algn="l"/>
                <a:tab pos="9568815" algn="l"/>
              </a:tabLst>
            </a:pPr>
            <a:r>
              <a:rPr lang="en-US" sz="2400" dirty="0">
                <a:latin typeface="+mn-lt"/>
              </a:rPr>
              <a:t>Statistical summaries and visualizations help identify price distributions, variations across locations, and anomalies such as outliers or unusual listings.</a:t>
            </a:r>
            <a:r>
              <a:rPr sz="2400" spc="-10" dirty="0">
                <a:latin typeface="+mn-lt"/>
                <a:cs typeface="Calibri"/>
              </a:rPr>
              <a:t>.</a:t>
            </a:r>
            <a:endParaRPr sz="2400" dirty="0">
              <a:latin typeface="+mn-lt"/>
              <a:cs typeface="Calibri"/>
            </a:endParaRPr>
          </a:p>
          <a:p>
            <a:pPr marL="355600" marR="7620" indent="-343535">
              <a:lnSpc>
                <a:spcPts val="4350"/>
              </a:lnSpc>
              <a:spcBef>
                <a:spcPts val="125"/>
              </a:spcBef>
              <a:buFont typeface="Arial MT"/>
              <a:buChar char="•"/>
              <a:tabLst>
                <a:tab pos="355600" algn="l"/>
                <a:tab pos="1009015" algn="l"/>
                <a:tab pos="2242820" algn="l"/>
                <a:tab pos="3153410" algn="l"/>
                <a:tab pos="5314315" algn="l"/>
                <a:tab pos="5756910" algn="l"/>
                <a:tab pos="7147559" algn="l"/>
                <a:tab pos="7840345" algn="l"/>
                <a:tab pos="8832215" algn="l"/>
                <a:tab pos="9444355" algn="l"/>
              </a:tabLst>
            </a:pPr>
            <a:r>
              <a:rPr lang="en-US" sz="2400" dirty="0">
                <a:latin typeface="+mn-lt"/>
              </a:rPr>
              <a:t>EDA supports better decision-making by improving data quality, identifying missing or duplicate records, and providing insights into housing market trends in Hyderabad.</a:t>
            </a:r>
            <a:endParaRPr sz="2400" dirty="0">
              <a:latin typeface="+mn-lt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6535" rIns="0" bIns="0" rtlCol="0">
            <a:spAutoFit/>
          </a:bodyPr>
          <a:lstStyle/>
          <a:p>
            <a:pPr marL="392684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7402" y="1273873"/>
            <a:ext cx="11104245" cy="2781935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75"/>
              </a:spcBef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Identify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patterns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trends.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475"/>
              </a:spcBef>
              <a:buFont typeface="Wingdings"/>
              <a:buChar char=""/>
              <a:tabLst>
                <a:tab pos="354965" algn="l"/>
              </a:tabLst>
            </a:pPr>
            <a:r>
              <a:rPr sz="2400" spc="-10" dirty="0">
                <a:latin typeface="Calibri"/>
                <a:cs typeface="Calibri"/>
              </a:rPr>
              <a:t>Understand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variables.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400"/>
              </a:spcBef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Detect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anomalies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quality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issues.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475"/>
              </a:spcBef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Discover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meaningful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insights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highlight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biases,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imbalances,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underlying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patterns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475"/>
              </a:spcBef>
            </a:pPr>
            <a:r>
              <a:rPr sz="2400" dirty="0">
                <a:latin typeface="Calibri"/>
                <a:cs typeface="Calibri"/>
              </a:rPr>
              <a:t>within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dataset.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395" rIns="0" bIns="0" rtlCol="0">
            <a:spAutoFit/>
          </a:bodyPr>
          <a:lstStyle/>
          <a:p>
            <a:pPr marL="4451350">
              <a:lnSpc>
                <a:spcPct val="100000"/>
              </a:lnSpc>
              <a:spcBef>
                <a:spcPts val="105"/>
              </a:spcBef>
            </a:pPr>
            <a:r>
              <a:rPr spc="-185" dirty="0"/>
              <a:t>DATA</a:t>
            </a:r>
            <a:r>
              <a:rPr spc="5" dirty="0"/>
              <a:t> </a:t>
            </a:r>
            <a:r>
              <a:rPr spc="-25" dirty="0"/>
              <a:t>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11DB6-DEF7-D6AF-8A71-1581ABF3A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917" y="1386663"/>
            <a:ext cx="10684166" cy="40846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48634" y="377443"/>
            <a:ext cx="496252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KEY</a:t>
            </a:r>
            <a:r>
              <a:rPr spc="-114" dirty="0"/>
              <a:t> </a:t>
            </a:r>
            <a:r>
              <a:rPr dirty="0"/>
              <a:t>COLUMNS</a:t>
            </a:r>
            <a:r>
              <a:rPr spc="-90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9909" y="990536"/>
            <a:ext cx="11100435" cy="2371803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000" b="1" dirty="0"/>
              <a:t>Price</a:t>
            </a:r>
            <a:r>
              <a:rPr lang="en-US" sz="2000" dirty="0"/>
              <a:t> – The total price of the house or property.</a:t>
            </a:r>
          </a:p>
          <a:p>
            <a:pPr marL="355600" indent="-342900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000" b="1" dirty="0"/>
              <a:t>Area (</a:t>
            </a:r>
            <a:r>
              <a:rPr lang="en-US" sz="2000" b="1" dirty="0" err="1"/>
              <a:t>sq.ft</a:t>
            </a:r>
            <a:r>
              <a:rPr lang="en-US" sz="2000" b="1" dirty="0"/>
              <a:t>)</a:t>
            </a:r>
            <a:r>
              <a:rPr lang="en-US" sz="2000" dirty="0"/>
              <a:t> – The built-up area of the house in square feet.</a:t>
            </a:r>
          </a:p>
          <a:p>
            <a:pPr marL="355600" indent="-342900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000" b="1" dirty="0"/>
              <a:t>Location</a:t>
            </a:r>
            <a:r>
              <a:rPr lang="en-US" sz="2000" dirty="0"/>
              <a:t> – The area or locality where the property is located in Hyderabad.</a:t>
            </a:r>
          </a:p>
          <a:p>
            <a:pPr marL="355600" indent="-342900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000" b="1" dirty="0"/>
              <a:t>Bedrooms / BHK</a:t>
            </a:r>
            <a:r>
              <a:rPr lang="en-US" sz="2000" dirty="0"/>
              <a:t> – Number of bedrooms in the house.</a:t>
            </a:r>
          </a:p>
          <a:p>
            <a:pPr marL="355600" indent="-342900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000" b="1" dirty="0"/>
              <a:t>Bathrooms</a:t>
            </a:r>
            <a:r>
              <a:rPr lang="en-US" sz="2000" dirty="0"/>
              <a:t> – Number of bathrooms available in the property.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0654" rIns="0" bIns="0" rtlCol="0">
            <a:spAutoFit/>
          </a:bodyPr>
          <a:lstStyle/>
          <a:p>
            <a:pPr marL="3196590">
              <a:lnSpc>
                <a:spcPct val="100000"/>
              </a:lnSpc>
              <a:spcBef>
                <a:spcPts val="105"/>
              </a:spcBef>
            </a:pPr>
            <a:r>
              <a:rPr spc="-175" dirty="0"/>
              <a:t>DATA</a:t>
            </a:r>
            <a:r>
              <a:rPr spc="-10" dirty="0"/>
              <a:t> </a:t>
            </a:r>
            <a:r>
              <a:rPr spc="-25" dirty="0"/>
              <a:t>UNDERSTANDING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27165" y="1468119"/>
            <a:ext cx="5942965" cy="1127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sz="2400" dirty="0">
                <a:latin typeface="Calibri"/>
                <a:cs typeface="Calibri"/>
              </a:rPr>
              <a:t>df.shape</a:t>
            </a:r>
            <a:r>
              <a:rPr sz="2400" spc="4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gives</a:t>
            </a:r>
            <a:r>
              <a:rPr sz="2400" spc="43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total</a:t>
            </a:r>
            <a:r>
              <a:rPr sz="2400" spc="4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4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45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rows</a:t>
            </a:r>
            <a:r>
              <a:rPr sz="2400" spc="4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</a:t>
            </a:r>
            <a:r>
              <a:rPr sz="2400" dirty="0">
                <a:latin typeface="Calibri"/>
                <a:cs typeface="Calibri"/>
              </a:rPr>
              <a:t>columns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dataset,</a:t>
            </a:r>
            <a:r>
              <a:rPr sz="2400" spc="2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helping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understand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overall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size.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91098" y="1881251"/>
            <a:ext cx="317500" cy="76200"/>
          </a:xfrm>
          <a:custGeom>
            <a:avLst/>
            <a:gdLst/>
            <a:ahLst/>
            <a:cxnLst/>
            <a:rect l="l" t="t" r="r" b="b"/>
            <a:pathLst>
              <a:path w="317500" h="76200">
                <a:moveTo>
                  <a:pt x="241300" y="0"/>
                </a:moveTo>
                <a:lnTo>
                  <a:pt x="241300" y="76200"/>
                </a:lnTo>
                <a:lnTo>
                  <a:pt x="304800" y="44450"/>
                </a:lnTo>
                <a:lnTo>
                  <a:pt x="254000" y="44450"/>
                </a:lnTo>
                <a:lnTo>
                  <a:pt x="254000" y="31750"/>
                </a:lnTo>
                <a:lnTo>
                  <a:pt x="304800" y="31750"/>
                </a:lnTo>
                <a:lnTo>
                  <a:pt x="241300" y="0"/>
                </a:lnTo>
                <a:close/>
              </a:path>
              <a:path w="317500" h="76200">
                <a:moveTo>
                  <a:pt x="2413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41300" y="44450"/>
                </a:lnTo>
                <a:lnTo>
                  <a:pt x="241300" y="31750"/>
                </a:lnTo>
                <a:close/>
              </a:path>
              <a:path w="317500" h="76200">
                <a:moveTo>
                  <a:pt x="304800" y="31750"/>
                </a:moveTo>
                <a:lnTo>
                  <a:pt x="254000" y="31750"/>
                </a:lnTo>
                <a:lnTo>
                  <a:pt x="254000" y="44450"/>
                </a:lnTo>
                <a:lnTo>
                  <a:pt x="304800" y="44450"/>
                </a:lnTo>
                <a:lnTo>
                  <a:pt x="317500" y="38100"/>
                </a:lnTo>
                <a:lnTo>
                  <a:pt x="304800" y="31750"/>
                </a:lnTo>
                <a:close/>
              </a:path>
            </a:pathLst>
          </a:custGeom>
          <a:solidFill>
            <a:srgbClr val="742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10148" y="4338573"/>
            <a:ext cx="317500" cy="76200"/>
          </a:xfrm>
          <a:custGeom>
            <a:avLst/>
            <a:gdLst/>
            <a:ahLst/>
            <a:cxnLst/>
            <a:rect l="l" t="t" r="r" b="b"/>
            <a:pathLst>
              <a:path w="317500" h="76200">
                <a:moveTo>
                  <a:pt x="241300" y="0"/>
                </a:moveTo>
                <a:lnTo>
                  <a:pt x="241300" y="76200"/>
                </a:lnTo>
                <a:lnTo>
                  <a:pt x="304757" y="44576"/>
                </a:lnTo>
                <a:lnTo>
                  <a:pt x="254000" y="44576"/>
                </a:lnTo>
                <a:lnTo>
                  <a:pt x="254000" y="31876"/>
                </a:lnTo>
                <a:lnTo>
                  <a:pt x="304842" y="31876"/>
                </a:lnTo>
                <a:lnTo>
                  <a:pt x="241300" y="0"/>
                </a:lnTo>
                <a:close/>
              </a:path>
              <a:path w="317500" h="76200">
                <a:moveTo>
                  <a:pt x="241300" y="31876"/>
                </a:moveTo>
                <a:lnTo>
                  <a:pt x="0" y="31876"/>
                </a:lnTo>
                <a:lnTo>
                  <a:pt x="0" y="44576"/>
                </a:lnTo>
                <a:lnTo>
                  <a:pt x="241300" y="44576"/>
                </a:lnTo>
                <a:lnTo>
                  <a:pt x="241300" y="31876"/>
                </a:lnTo>
                <a:close/>
              </a:path>
              <a:path w="317500" h="76200">
                <a:moveTo>
                  <a:pt x="304842" y="31876"/>
                </a:moveTo>
                <a:lnTo>
                  <a:pt x="254000" y="31876"/>
                </a:lnTo>
                <a:lnTo>
                  <a:pt x="254000" y="44576"/>
                </a:lnTo>
                <a:lnTo>
                  <a:pt x="304757" y="44576"/>
                </a:lnTo>
                <a:lnTo>
                  <a:pt x="317500" y="38226"/>
                </a:lnTo>
                <a:lnTo>
                  <a:pt x="304842" y="31876"/>
                </a:lnTo>
                <a:close/>
              </a:path>
            </a:pathLst>
          </a:custGeom>
          <a:solidFill>
            <a:srgbClr val="742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904229" y="3930967"/>
            <a:ext cx="5946140" cy="1125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sz="2400" dirty="0">
                <a:latin typeface="Calibri"/>
                <a:cs typeface="Calibri"/>
              </a:rPr>
              <a:t>df.info()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provides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dataset, </a:t>
            </a:r>
            <a:r>
              <a:rPr sz="2400" dirty="0">
                <a:latin typeface="Calibri"/>
                <a:cs typeface="Calibri"/>
              </a:rPr>
              <a:t>including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types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missing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values,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which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essential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further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cleaning.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0B8903-CB23-ABFB-898B-3E0496BB4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123183"/>
            <a:ext cx="2286000" cy="9725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F25A6EB-43BA-78B7-02C4-C16A1A567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261" y="2209800"/>
            <a:ext cx="3848433" cy="37575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3048" y="2052701"/>
            <a:ext cx="277495" cy="76200"/>
          </a:xfrm>
          <a:custGeom>
            <a:avLst/>
            <a:gdLst/>
            <a:ahLst/>
            <a:cxnLst/>
            <a:rect l="l" t="t" r="r" b="b"/>
            <a:pathLst>
              <a:path w="277495" h="76200">
                <a:moveTo>
                  <a:pt x="201040" y="0"/>
                </a:moveTo>
                <a:lnTo>
                  <a:pt x="201040" y="76200"/>
                </a:lnTo>
                <a:lnTo>
                  <a:pt x="264540" y="44450"/>
                </a:lnTo>
                <a:lnTo>
                  <a:pt x="213740" y="44450"/>
                </a:lnTo>
                <a:lnTo>
                  <a:pt x="213740" y="31750"/>
                </a:lnTo>
                <a:lnTo>
                  <a:pt x="264540" y="31750"/>
                </a:lnTo>
                <a:lnTo>
                  <a:pt x="201040" y="0"/>
                </a:lnTo>
                <a:close/>
              </a:path>
              <a:path w="277495" h="76200">
                <a:moveTo>
                  <a:pt x="20104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01040" y="44450"/>
                </a:lnTo>
                <a:lnTo>
                  <a:pt x="201040" y="31750"/>
                </a:lnTo>
                <a:close/>
              </a:path>
              <a:path w="277495" h="76200">
                <a:moveTo>
                  <a:pt x="264540" y="31750"/>
                </a:moveTo>
                <a:lnTo>
                  <a:pt x="213740" y="31750"/>
                </a:lnTo>
                <a:lnTo>
                  <a:pt x="213740" y="44450"/>
                </a:lnTo>
                <a:lnTo>
                  <a:pt x="264540" y="44450"/>
                </a:lnTo>
                <a:lnTo>
                  <a:pt x="277240" y="38100"/>
                </a:lnTo>
                <a:lnTo>
                  <a:pt x="264540" y="31750"/>
                </a:lnTo>
                <a:close/>
              </a:path>
            </a:pathLst>
          </a:custGeom>
          <a:solidFill>
            <a:srgbClr val="742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814948" y="4690998"/>
            <a:ext cx="317500" cy="76200"/>
          </a:xfrm>
          <a:custGeom>
            <a:avLst/>
            <a:gdLst/>
            <a:ahLst/>
            <a:cxnLst/>
            <a:rect l="l" t="t" r="r" b="b"/>
            <a:pathLst>
              <a:path w="317500" h="76200">
                <a:moveTo>
                  <a:pt x="241300" y="0"/>
                </a:moveTo>
                <a:lnTo>
                  <a:pt x="241300" y="76200"/>
                </a:lnTo>
                <a:lnTo>
                  <a:pt x="304757" y="44576"/>
                </a:lnTo>
                <a:lnTo>
                  <a:pt x="254000" y="44576"/>
                </a:lnTo>
                <a:lnTo>
                  <a:pt x="254000" y="31876"/>
                </a:lnTo>
                <a:lnTo>
                  <a:pt x="304842" y="31876"/>
                </a:lnTo>
                <a:lnTo>
                  <a:pt x="241300" y="0"/>
                </a:lnTo>
                <a:close/>
              </a:path>
              <a:path w="317500" h="76200">
                <a:moveTo>
                  <a:pt x="241300" y="31876"/>
                </a:moveTo>
                <a:lnTo>
                  <a:pt x="0" y="31876"/>
                </a:lnTo>
                <a:lnTo>
                  <a:pt x="0" y="44576"/>
                </a:lnTo>
                <a:lnTo>
                  <a:pt x="241300" y="44576"/>
                </a:lnTo>
                <a:lnTo>
                  <a:pt x="241300" y="31876"/>
                </a:lnTo>
                <a:close/>
              </a:path>
              <a:path w="317500" h="76200">
                <a:moveTo>
                  <a:pt x="304842" y="31876"/>
                </a:moveTo>
                <a:lnTo>
                  <a:pt x="254000" y="31876"/>
                </a:lnTo>
                <a:lnTo>
                  <a:pt x="254000" y="44576"/>
                </a:lnTo>
                <a:lnTo>
                  <a:pt x="304757" y="44576"/>
                </a:lnTo>
                <a:lnTo>
                  <a:pt x="317500" y="38226"/>
                </a:lnTo>
                <a:lnTo>
                  <a:pt x="304842" y="31876"/>
                </a:lnTo>
                <a:close/>
              </a:path>
            </a:pathLst>
          </a:custGeom>
          <a:solidFill>
            <a:srgbClr val="742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256020" y="1502727"/>
            <a:ext cx="5882005" cy="1126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0"/>
              </a:spcBef>
            </a:pPr>
            <a:r>
              <a:rPr sz="2400" b="0" dirty="0">
                <a:latin typeface="+mn-lt"/>
                <a:cs typeface="Calibri"/>
              </a:rPr>
              <a:t>This</a:t>
            </a:r>
            <a:r>
              <a:rPr sz="2400" b="0" spc="-35" dirty="0">
                <a:latin typeface="+mn-lt"/>
                <a:cs typeface="Calibri"/>
              </a:rPr>
              <a:t> </a:t>
            </a:r>
            <a:r>
              <a:rPr sz="2400" b="0" spc="-10" dirty="0">
                <a:latin typeface="+mn-lt"/>
                <a:cs typeface="Calibri"/>
              </a:rPr>
              <a:t>function</a:t>
            </a:r>
            <a:r>
              <a:rPr sz="2400" b="0" spc="-55" dirty="0">
                <a:latin typeface="+mn-lt"/>
                <a:cs typeface="Calibri"/>
              </a:rPr>
              <a:t> </a:t>
            </a:r>
            <a:r>
              <a:rPr sz="2400" b="0" dirty="0">
                <a:latin typeface="+mn-lt"/>
                <a:cs typeface="Calibri"/>
              </a:rPr>
              <a:t>provides</a:t>
            </a:r>
            <a:r>
              <a:rPr sz="2400" b="0" spc="-35" dirty="0">
                <a:latin typeface="+mn-lt"/>
                <a:cs typeface="Calibri"/>
              </a:rPr>
              <a:t> </a:t>
            </a:r>
            <a:r>
              <a:rPr sz="2400" b="0" dirty="0">
                <a:latin typeface="+mn-lt"/>
                <a:cs typeface="Calibri"/>
              </a:rPr>
              <a:t>summary</a:t>
            </a:r>
            <a:r>
              <a:rPr sz="2400" b="0" spc="-40" dirty="0">
                <a:latin typeface="+mn-lt"/>
                <a:cs typeface="Calibri"/>
              </a:rPr>
              <a:t> </a:t>
            </a:r>
            <a:r>
              <a:rPr sz="2400" b="0" spc="-20" dirty="0">
                <a:latin typeface="+mn-lt"/>
                <a:cs typeface="Calibri"/>
              </a:rPr>
              <a:t>statistics</a:t>
            </a:r>
            <a:r>
              <a:rPr sz="2400" b="0" spc="-100" dirty="0">
                <a:latin typeface="+mn-lt"/>
                <a:cs typeface="Calibri"/>
              </a:rPr>
              <a:t> </a:t>
            </a:r>
            <a:r>
              <a:rPr sz="2400" b="0" dirty="0">
                <a:latin typeface="+mn-lt"/>
                <a:cs typeface="Calibri"/>
              </a:rPr>
              <a:t>for</a:t>
            </a:r>
            <a:r>
              <a:rPr sz="2400" b="0" spc="-10" dirty="0">
                <a:latin typeface="+mn-lt"/>
                <a:cs typeface="Calibri"/>
              </a:rPr>
              <a:t> </a:t>
            </a:r>
            <a:r>
              <a:rPr sz="2400" b="0" spc="-25" dirty="0">
                <a:latin typeface="+mn-lt"/>
                <a:cs typeface="Calibri"/>
              </a:rPr>
              <a:t>all </a:t>
            </a:r>
            <a:r>
              <a:rPr sz="2400" b="0" dirty="0">
                <a:latin typeface="+mn-lt"/>
                <a:cs typeface="Calibri"/>
              </a:rPr>
              <a:t>numerical</a:t>
            </a:r>
            <a:r>
              <a:rPr sz="2400" b="0" spc="-50" dirty="0">
                <a:latin typeface="+mn-lt"/>
                <a:cs typeface="Calibri"/>
              </a:rPr>
              <a:t> </a:t>
            </a:r>
            <a:r>
              <a:rPr sz="2400" b="0" dirty="0">
                <a:latin typeface="+mn-lt"/>
                <a:cs typeface="Calibri"/>
              </a:rPr>
              <a:t>columns,</a:t>
            </a:r>
            <a:r>
              <a:rPr sz="2400" b="0" spc="-90" dirty="0">
                <a:latin typeface="+mn-lt"/>
                <a:cs typeface="Calibri"/>
              </a:rPr>
              <a:t> </a:t>
            </a:r>
            <a:r>
              <a:rPr sz="2400" b="0" dirty="0">
                <a:latin typeface="+mn-lt"/>
                <a:cs typeface="Calibri"/>
              </a:rPr>
              <a:t>such</a:t>
            </a:r>
            <a:r>
              <a:rPr sz="2400" b="0" spc="-85" dirty="0">
                <a:latin typeface="+mn-lt"/>
                <a:cs typeface="Calibri"/>
              </a:rPr>
              <a:t> </a:t>
            </a:r>
            <a:r>
              <a:rPr sz="2400" b="0" dirty="0">
                <a:latin typeface="+mn-lt"/>
                <a:cs typeface="Calibri"/>
              </a:rPr>
              <a:t>as</a:t>
            </a:r>
            <a:r>
              <a:rPr sz="2400" b="0" spc="-60" dirty="0">
                <a:latin typeface="+mn-lt"/>
                <a:cs typeface="Calibri"/>
              </a:rPr>
              <a:t> </a:t>
            </a:r>
            <a:r>
              <a:rPr sz="2400" b="0" dirty="0">
                <a:latin typeface="+mn-lt"/>
                <a:cs typeface="Calibri"/>
              </a:rPr>
              <a:t>mean,</a:t>
            </a:r>
            <a:r>
              <a:rPr sz="2400" b="0" spc="-30" dirty="0">
                <a:latin typeface="+mn-lt"/>
                <a:cs typeface="Calibri"/>
              </a:rPr>
              <a:t> </a:t>
            </a:r>
            <a:r>
              <a:rPr sz="2400" b="0" spc="-10" dirty="0">
                <a:latin typeface="+mn-lt"/>
                <a:cs typeface="Calibri"/>
              </a:rPr>
              <a:t>minimum, </a:t>
            </a:r>
            <a:r>
              <a:rPr sz="2400" b="0" dirty="0">
                <a:latin typeface="+mn-lt"/>
                <a:cs typeface="Calibri"/>
              </a:rPr>
              <a:t>maximum,</a:t>
            </a:r>
            <a:r>
              <a:rPr sz="2400" b="0" spc="-85" dirty="0">
                <a:latin typeface="+mn-lt"/>
                <a:cs typeface="Calibri"/>
              </a:rPr>
              <a:t> </a:t>
            </a:r>
            <a:r>
              <a:rPr sz="2400" b="0" dirty="0">
                <a:latin typeface="+mn-lt"/>
                <a:cs typeface="Calibri"/>
              </a:rPr>
              <a:t>and</a:t>
            </a:r>
            <a:r>
              <a:rPr sz="2400" b="0" spc="-65" dirty="0">
                <a:latin typeface="+mn-lt"/>
                <a:cs typeface="Calibri"/>
              </a:rPr>
              <a:t> </a:t>
            </a:r>
            <a:r>
              <a:rPr sz="2400" b="0" spc="-10" dirty="0">
                <a:latin typeface="+mn-lt"/>
                <a:cs typeface="Calibri"/>
              </a:rPr>
              <a:t>standard</a:t>
            </a:r>
            <a:r>
              <a:rPr sz="2400" b="0" spc="-65" dirty="0">
                <a:latin typeface="+mn-lt"/>
                <a:cs typeface="Calibri"/>
              </a:rPr>
              <a:t> </a:t>
            </a:r>
            <a:r>
              <a:rPr sz="2400" b="0" spc="-10" dirty="0">
                <a:latin typeface="+mn-lt"/>
                <a:cs typeface="Calibri"/>
              </a:rPr>
              <a:t>deviation.</a:t>
            </a:r>
            <a:endParaRPr sz="2400" dirty="0">
              <a:latin typeface="+mn-lt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91834" y="4106227"/>
            <a:ext cx="589153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+mn-lt"/>
                <a:cs typeface="Calibri"/>
              </a:rPr>
              <a:t>This</a:t>
            </a:r>
            <a:r>
              <a:rPr sz="2400" spc="-3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command</a:t>
            </a:r>
            <a:r>
              <a:rPr sz="2400" spc="-55" dirty="0">
                <a:latin typeface="+mn-lt"/>
                <a:cs typeface="Calibri"/>
              </a:rPr>
              <a:t> </a:t>
            </a:r>
            <a:r>
              <a:rPr sz="2400" spc="-20" dirty="0">
                <a:latin typeface="+mn-lt"/>
                <a:cs typeface="Calibri"/>
              </a:rPr>
              <a:t>generates</a:t>
            </a:r>
            <a:r>
              <a:rPr sz="2400" spc="-3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summary</a:t>
            </a:r>
            <a:r>
              <a:rPr sz="2400" spc="-105" dirty="0">
                <a:latin typeface="+mn-lt"/>
                <a:cs typeface="Calibri"/>
              </a:rPr>
              <a:t> </a:t>
            </a:r>
            <a:r>
              <a:rPr sz="2400" spc="-10" dirty="0">
                <a:latin typeface="+mn-lt"/>
                <a:cs typeface="Calibri"/>
              </a:rPr>
              <a:t>statistics</a:t>
            </a:r>
            <a:r>
              <a:rPr sz="2400" spc="-100" dirty="0">
                <a:latin typeface="+mn-lt"/>
                <a:cs typeface="Calibri"/>
              </a:rPr>
              <a:t> </a:t>
            </a:r>
            <a:r>
              <a:rPr sz="2400" spc="-25" dirty="0">
                <a:latin typeface="+mn-lt"/>
                <a:cs typeface="Calibri"/>
              </a:rPr>
              <a:t>for </a:t>
            </a:r>
            <a:r>
              <a:rPr sz="2400" spc="-10" dirty="0">
                <a:latin typeface="+mn-lt"/>
                <a:cs typeface="Calibri"/>
              </a:rPr>
              <a:t>categorical</a:t>
            </a:r>
            <a:r>
              <a:rPr sz="2400" spc="-3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columns,</a:t>
            </a:r>
            <a:r>
              <a:rPr sz="2400" spc="-70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showing</a:t>
            </a:r>
            <a:r>
              <a:rPr sz="2400" spc="-7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the</a:t>
            </a:r>
            <a:r>
              <a:rPr sz="2400" spc="-6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number</a:t>
            </a:r>
            <a:r>
              <a:rPr sz="2400" spc="-80" dirty="0">
                <a:latin typeface="+mn-lt"/>
                <a:cs typeface="Calibri"/>
              </a:rPr>
              <a:t> </a:t>
            </a:r>
            <a:r>
              <a:rPr sz="2400" spc="-25" dirty="0">
                <a:latin typeface="+mn-lt"/>
                <a:cs typeface="Calibri"/>
              </a:rPr>
              <a:t>of </a:t>
            </a:r>
            <a:r>
              <a:rPr sz="2400" dirty="0">
                <a:latin typeface="+mn-lt"/>
                <a:cs typeface="Calibri"/>
              </a:rPr>
              <a:t>unique</a:t>
            </a:r>
            <a:r>
              <a:rPr sz="2400" spc="-100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values,</a:t>
            </a:r>
            <a:r>
              <a:rPr sz="2400" spc="-9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the</a:t>
            </a:r>
            <a:r>
              <a:rPr sz="2400" spc="-9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most</a:t>
            </a:r>
            <a:r>
              <a:rPr sz="2400" spc="-8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frequent</a:t>
            </a:r>
            <a:r>
              <a:rPr sz="2400" spc="-80" dirty="0">
                <a:latin typeface="+mn-lt"/>
                <a:cs typeface="Calibri"/>
              </a:rPr>
              <a:t> </a:t>
            </a:r>
            <a:r>
              <a:rPr sz="2400" spc="-25" dirty="0">
                <a:latin typeface="+mn-lt"/>
                <a:cs typeface="Calibri"/>
              </a:rPr>
              <a:t>category,</a:t>
            </a:r>
            <a:r>
              <a:rPr sz="2400" spc="-40" dirty="0">
                <a:latin typeface="+mn-lt"/>
                <a:cs typeface="Calibri"/>
              </a:rPr>
              <a:t> </a:t>
            </a:r>
            <a:r>
              <a:rPr sz="2400" spc="-25" dirty="0">
                <a:latin typeface="+mn-lt"/>
                <a:cs typeface="Calibri"/>
              </a:rPr>
              <a:t>and </a:t>
            </a:r>
            <a:r>
              <a:rPr sz="2400" dirty="0">
                <a:latin typeface="+mn-lt"/>
                <a:cs typeface="Calibri"/>
              </a:rPr>
              <a:t>its </a:t>
            </a:r>
            <a:r>
              <a:rPr sz="2400" spc="-10" dirty="0">
                <a:latin typeface="+mn-lt"/>
                <a:cs typeface="Calibri"/>
              </a:rPr>
              <a:t>frequency.</a:t>
            </a:r>
            <a:endParaRPr sz="2400" dirty="0">
              <a:latin typeface="+mn-lt"/>
              <a:cs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A6A537-0261-4C2F-EC09-B43125A5B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39" y="3166998"/>
            <a:ext cx="5351127" cy="29290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1E1CBBB-2F7B-B06B-378C-3080DFB25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87" y="304800"/>
            <a:ext cx="5234052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360" rIns="0" bIns="0" rtlCol="0">
            <a:spAutoFit/>
          </a:bodyPr>
          <a:lstStyle/>
          <a:p>
            <a:pPr marL="3677285">
              <a:lnSpc>
                <a:spcPct val="100000"/>
              </a:lnSpc>
              <a:spcBef>
                <a:spcPts val="105"/>
              </a:spcBef>
            </a:pPr>
            <a:r>
              <a:rPr spc="-175" dirty="0"/>
              <a:t>DATA</a:t>
            </a:r>
            <a:r>
              <a:rPr spc="-10" dirty="0"/>
              <a:t> CLEANING</a:t>
            </a:r>
          </a:p>
        </p:txBody>
      </p:sp>
      <p:sp>
        <p:nvSpPr>
          <p:cNvPr id="3" name="object 3"/>
          <p:cNvSpPr/>
          <p:nvPr/>
        </p:nvSpPr>
        <p:spPr>
          <a:xfrm>
            <a:off x="5186298" y="1719326"/>
            <a:ext cx="317500" cy="76200"/>
          </a:xfrm>
          <a:custGeom>
            <a:avLst/>
            <a:gdLst/>
            <a:ahLst/>
            <a:cxnLst/>
            <a:rect l="l" t="t" r="r" b="b"/>
            <a:pathLst>
              <a:path w="317500" h="76200">
                <a:moveTo>
                  <a:pt x="241300" y="0"/>
                </a:moveTo>
                <a:lnTo>
                  <a:pt x="241300" y="76200"/>
                </a:lnTo>
                <a:lnTo>
                  <a:pt x="304800" y="44450"/>
                </a:lnTo>
                <a:lnTo>
                  <a:pt x="254000" y="44450"/>
                </a:lnTo>
                <a:lnTo>
                  <a:pt x="254000" y="31750"/>
                </a:lnTo>
                <a:lnTo>
                  <a:pt x="304800" y="31750"/>
                </a:lnTo>
                <a:lnTo>
                  <a:pt x="241300" y="0"/>
                </a:lnTo>
                <a:close/>
              </a:path>
              <a:path w="317500" h="76200">
                <a:moveTo>
                  <a:pt x="2413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41300" y="44450"/>
                </a:lnTo>
                <a:lnTo>
                  <a:pt x="241300" y="31750"/>
                </a:lnTo>
                <a:close/>
              </a:path>
              <a:path w="317500" h="76200">
                <a:moveTo>
                  <a:pt x="304800" y="31750"/>
                </a:moveTo>
                <a:lnTo>
                  <a:pt x="254000" y="31750"/>
                </a:lnTo>
                <a:lnTo>
                  <a:pt x="254000" y="44450"/>
                </a:lnTo>
                <a:lnTo>
                  <a:pt x="304800" y="44450"/>
                </a:lnTo>
                <a:lnTo>
                  <a:pt x="317500" y="38100"/>
                </a:lnTo>
                <a:lnTo>
                  <a:pt x="304800" y="31750"/>
                </a:lnTo>
                <a:close/>
              </a:path>
            </a:pathLst>
          </a:custGeom>
          <a:solidFill>
            <a:srgbClr val="742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760084" y="1457705"/>
            <a:ext cx="5902325" cy="43954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628015">
              <a:lnSpc>
                <a:spcPct val="100400"/>
              </a:lnSpc>
              <a:spcBef>
                <a:spcPts val="90"/>
              </a:spcBef>
            </a:pPr>
            <a:r>
              <a:rPr sz="2400" dirty="0">
                <a:latin typeface="+mn-lt"/>
                <a:cs typeface="Calibri"/>
              </a:rPr>
              <a:t>The</a:t>
            </a:r>
            <a:r>
              <a:rPr sz="2400" spc="-45" dirty="0">
                <a:latin typeface="+mn-lt"/>
                <a:cs typeface="Calibri"/>
              </a:rPr>
              <a:t> </a:t>
            </a:r>
            <a:r>
              <a:rPr sz="2400" spc="-10" dirty="0">
                <a:latin typeface="+mn-lt"/>
                <a:cs typeface="Calibri"/>
              </a:rPr>
              <a:t>dataset</a:t>
            </a:r>
            <a:r>
              <a:rPr sz="2400" spc="-30" dirty="0">
                <a:latin typeface="+mn-lt"/>
                <a:cs typeface="Calibri"/>
              </a:rPr>
              <a:t> </a:t>
            </a:r>
            <a:r>
              <a:rPr sz="2400" spc="-10" dirty="0">
                <a:latin typeface="+mn-lt"/>
                <a:cs typeface="Calibri"/>
              </a:rPr>
              <a:t>contains</a:t>
            </a:r>
            <a:r>
              <a:rPr sz="2400" spc="-8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no</a:t>
            </a:r>
            <a:r>
              <a:rPr sz="2400" spc="-40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missing</a:t>
            </a:r>
            <a:r>
              <a:rPr sz="2400" spc="-55" dirty="0">
                <a:latin typeface="+mn-lt"/>
                <a:cs typeface="Calibri"/>
              </a:rPr>
              <a:t> </a:t>
            </a:r>
            <a:r>
              <a:rPr sz="2400" spc="-10" dirty="0">
                <a:latin typeface="+mn-lt"/>
                <a:cs typeface="Calibri"/>
              </a:rPr>
              <a:t>values </a:t>
            </a:r>
            <a:r>
              <a:rPr sz="2400" dirty="0">
                <a:latin typeface="+mn-lt"/>
                <a:cs typeface="Calibri"/>
              </a:rPr>
              <a:t>across</a:t>
            </a:r>
            <a:r>
              <a:rPr sz="2400" spc="-114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any</a:t>
            </a:r>
            <a:r>
              <a:rPr sz="2400" spc="-5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of</a:t>
            </a:r>
            <a:r>
              <a:rPr sz="2400" spc="-6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the</a:t>
            </a:r>
            <a:r>
              <a:rPr sz="2400" spc="-7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columns,</a:t>
            </a:r>
            <a:r>
              <a:rPr sz="2400" spc="-7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indicating</a:t>
            </a:r>
            <a:r>
              <a:rPr sz="2400" spc="-80" dirty="0">
                <a:latin typeface="+mn-lt"/>
                <a:cs typeface="Calibri"/>
              </a:rPr>
              <a:t> </a:t>
            </a:r>
            <a:r>
              <a:rPr sz="2400" spc="-20" dirty="0">
                <a:latin typeface="+mn-lt"/>
                <a:cs typeface="Calibri"/>
              </a:rPr>
              <a:t>high </a:t>
            </a:r>
            <a:r>
              <a:rPr sz="2400" dirty="0">
                <a:latin typeface="+mn-lt"/>
                <a:cs typeface="Calibri"/>
              </a:rPr>
              <a:t>data</a:t>
            </a:r>
            <a:r>
              <a:rPr sz="2400" spc="-40" dirty="0">
                <a:latin typeface="+mn-lt"/>
                <a:cs typeface="Calibri"/>
              </a:rPr>
              <a:t> </a:t>
            </a:r>
            <a:r>
              <a:rPr sz="2400" spc="-10" dirty="0">
                <a:latin typeface="+mn-lt"/>
                <a:cs typeface="Calibri"/>
              </a:rPr>
              <a:t>completeness</a:t>
            </a:r>
            <a:r>
              <a:rPr sz="2400" spc="-40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and</a:t>
            </a:r>
            <a:r>
              <a:rPr sz="2400" spc="-70" dirty="0">
                <a:latin typeface="+mn-lt"/>
                <a:cs typeface="Calibri"/>
              </a:rPr>
              <a:t> </a:t>
            </a:r>
            <a:r>
              <a:rPr sz="2400" spc="-20" dirty="0">
                <a:latin typeface="+mn-lt"/>
                <a:cs typeface="Calibri"/>
              </a:rPr>
              <a:t>quality.</a:t>
            </a:r>
            <a:r>
              <a:rPr sz="2400" spc="-1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As</a:t>
            </a:r>
            <a:r>
              <a:rPr sz="2400" spc="-4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a</a:t>
            </a:r>
            <a:r>
              <a:rPr sz="2400" spc="-100" dirty="0">
                <a:latin typeface="+mn-lt"/>
                <a:cs typeface="Calibri"/>
              </a:rPr>
              <a:t> </a:t>
            </a:r>
            <a:r>
              <a:rPr sz="2400" spc="-10" dirty="0">
                <a:latin typeface="+mn-lt"/>
                <a:cs typeface="Calibri"/>
              </a:rPr>
              <a:t>result, </a:t>
            </a:r>
            <a:r>
              <a:rPr sz="2400" dirty="0">
                <a:latin typeface="+mn-lt"/>
                <a:cs typeface="Calibri"/>
              </a:rPr>
              <a:t>no</a:t>
            </a:r>
            <a:r>
              <a:rPr sz="2400" spc="-60" dirty="0">
                <a:latin typeface="+mn-lt"/>
                <a:cs typeface="Calibri"/>
              </a:rPr>
              <a:t> </a:t>
            </a:r>
            <a:r>
              <a:rPr sz="2400" spc="-10" dirty="0">
                <a:latin typeface="+mn-lt"/>
                <a:cs typeface="Calibri"/>
              </a:rPr>
              <a:t>null-</a:t>
            </a:r>
            <a:r>
              <a:rPr sz="2400" dirty="0">
                <a:latin typeface="+mn-lt"/>
                <a:cs typeface="Calibri"/>
              </a:rPr>
              <a:t>value</a:t>
            </a:r>
            <a:r>
              <a:rPr sz="2400" spc="-60" dirty="0">
                <a:latin typeface="+mn-lt"/>
                <a:cs typeface="Calibri"/>
              </a:rPr>
              <a:t> </a:t>
            </a:r>
            <a:r>
              <a:rPr sz="2400" spc="-10" dirty="0">
                <a:latin typeface="+mn-lt"/>
                <a:cs typeface="Calibri"/>
              </a:rPr>
              <a:t>treatment</a:t>
            </a:r>
            <a:r>
              <a:rPr sz="2400" spc="-50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is</a:t>
            </a:r>
            <a:r>
              <a:rPr sz="2400" spc="-35" dirty="0">
                <a:latin typeface="+mn-lt"/>
                <a:cs typeface="Calibri"/>
              </a:rPr>
              <a:t> </a:t>
            </a:r>
            <a:r>
              <a:rPr sz="2400" spc="-10" dirty="0">
                <a:latin typeface="+mn-lt"/>
                <a:cs typeface="Calibri"/>
              </a:rPr>
              <a:t>required</a:t>
            </a:r>
            <a:r>
              <a:rPr sz="2400" spc="-50" dirty="0">
                <a:latin typeface="+mn-lt"/>
                <a:cs typeface="Calibri"/>
              </a:rPr>
              <a:t> </a:t>
            </a:r>
            <a:r>
              <a:rPr sz="2400" spc="-10" dirty="0">
                <a:latin typeface="+mn-lt"/>
                <a:cs typeface="Calibri"/>
              </a:rPr>
              <a:t>before performing</a:t>
            </a:r>
            <a:r>
              <a:rPr sz="2400" spc="-70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further</a:t>
            </a:r>
            <a:r>
              <a:rPr sz="2400" spc="-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analysis</a:t>
            </a:r>
            <a:r>
              <a:rPr sz="2400" spc="-100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or</a:t>
            </a:r>
            <a:r>
              <a:rPr sz="2400" spc="-70" dirty="0">
                <a:latin typeface="+mn-lt"/>
                <a:cs typeface="Calibri"/>
              </a:rPr>
              <a:t> </a:t>
            </a:r>
            <a:r>
              <a:rPr sz="2400" spc="-10" dirty="0">
                <a:latin typeface="+mn-lt"/>
                <a:cs typeface="Calibri"/>
              </a:rPr>
              <a:t>modeling.</a:t>
            </a:r>
            <a:endParaRPr sz="2400" dirty="0">
              <a:latin typeface="+mn-lt"/>
              <a:cs typeface="Calibri"/>
            </a:endParaRPr>
          </a:p>
          <a:p>
            <a:pPr>
              <a:lnSpc>
                <a:spcPct val="100000"/>
              </a:lnSpc>
              <a:spcBef>
                <a:spcPts val="2565"/>
              </a:spcBef>
            </a:pPr>
            <a:endParaRPr sz="2400" dirty="0">
              <a:latin typeface="+mn-lt"/>
              <a:cs typeface="Calibri"/>
            </a:endParaRPr>
          </a:p>
          <a:p>
            <a:pPr marL="12700" marR="5080">
              <a:lnSpc>
                <a:spcPct val="100400"/>
              </a:lnSpc>
              <a:spcBef>
                <a:spcPts val="5"/>
              </a:spcBef>
            </a:pPr>
            <a:r>
              <a:rPr sz="2400" dirty="0">
                <a:latin typeface="+mn-lt"/>
                <a:cs typeface="Calibri"/>
              </a:rPr>
              <a:t>The</a:t>
            </a:r>
            <a:r>
              <a:rPr sz="2400" spc="-55" dirty="0">
                <a:latin typeface="+mn-lt"/>
                <a:cs typeface="Calibri"/>
              </a:rPr>
              <a:t> </a:t>
            </a:r>
            <a:r>
              <a:rPr sz="2400" spc="-10" dirty="0">
                <a:latin typeface="+mn-lt"/>
                <a:cs typeface="Calibri"/>
              </a:rPr>
              <a:t>dataset</a:t>
            </a:r>
            <a:r>
              <a:rPr sz="2400" spc="-35" dirty="0">
                <a:latin typeface="+mn-lt"/>
                <a:cs typeface="Calibri"/>
              </a:rPr>
              <a:t> </a:t>
            </a:r>
            <a:r>
              <a:rPr sz="2400" spc="-10" dirty="0">
                <a:latin typeface="+mn-lt"/>
                <a:cs typeface="Calibri"/>
              </a:rPr>
              <a:t>contains</a:t>
            </a:r>
            <a:r>
              <a:rPr sz="2400" spc="-95" dirty="0">
                <a:latin typeface="+mn-lt"/>
                <a:cs typeface="Calibri"/>
              </a:rPr>
              <a:t> </a:t>
            </a:r>
            <a:r>
              <a:rPr sz="2400" spc="-50" dirty="0">
                <a:latin typeface="+mn-lt"/>
                <a:cs typeface="Calibri"/>
              </a:rPr>
              <a:t> </a:t>
            </a:r>
            <a:r>
              <a:rPr sz="2400" spc="-10" dirty="0">
                <a:latin typeface="+mn-lt"/>
                <a:cs typeface="Calibri"/>
              </a:rPr>
              <a:t>duplicate</a:t>
            </a:r>
            <a:r>
              <a:rPr sz="2400" spc="-55" dirty="0">
                <a:latin typeface="+mn-lt"/>
                <a:cs typeface="Calibri"/>
              </a:rPr>
              <a:t> </a:t>
            </a:r>
            <a:r>
              <a:rPr sz="2400" spc="-10" dirty="0">
                <a:latin typeface="+mn-lt"/>
                <a:cs typeface="Calibri"/>
              </a:rPr>
              <a:t>record</a:t>
            </a:r>
            <a:r>
              <a:rPr lang="en-US" sz="2400" spc="-10" dirty="0">
                <a:latin typeface="+mn-lt"/>
                <a:cs typeface="Calibri"/>
              </a:rPr>
              <a:t>s</a:t>
            </a:r>
            <a:r>
              <a:rPr sz="2400" spc="-10" dirty="0">
                <a:latin typeface="+mn-lt"/>
                <a:cs typeface="Calibri"/>
              </a:rPr>
              <a:t>, </a:t>
            </a:r>
            <a:r>
              <a:rPr sz="2400" dirty="0">
                <a:latin typeface="+mn-lt"/>
                <a:cs typeface="Calibri"/>
              </a:rPr>
              <a:t>indicating</a:t>
            </a:r>
            <a:r>
              <a:rPr sz="2400" spc="-10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a</a:t>
            </a:r>
            <a:r>
              <a:rPr sz="2400" spc="-90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small</a:t>
            </a:r>
            <a:r>
              <a:rPr sz="2400" spc="-90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level</a:t>
            </a:r>
            <a:r>
              <a:rPr sz="2400" spc="-80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of</a:t>
            </a:r>
            <a:r>
              <a:rPr sz="2400" spc="-5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data</a:t>
            </a:r>
            <a:r>
              <a:rPr sz="2400" spc="-25" dirty="0">
                <a:latin typeface="+mn-lt"/>
                <a:cs typeface="Calibri"/>
              </a:rPr>
              <a:t> redundancy.</a:t>
            </a:r>
            <a:r>
              <a:rPr sz="2400" spc="-70" dirty="0">
                <a:latin typeface="+mn-lt"/>
                <a:cs typeface="Calibri"/>
              </a:rPr>
              <a:t> </a:t>
            </a:r>
            <a:r>
              <a:rPr sz="2400" spc="-20" dirty="0">
                <a:latin typeface="+mn-lt"/>
                <a:cs typeface="Calibri"/>
              </a:rPr>
              <a:t>Th</a:t>
            </a:r>
            <a:r>
              <a:rPr lang="en-US" sz="2400" spc="-20" dirty="0">
                <a:latin typeface="+mn-lt"/>
                <a:cs typeface="Calibri"/>
              </a:rPr>
              <a:t>e</a:t>
            </a:r>
            <a:r>
              <a:rPr sz="2400" spc="-20" dirty="0">
                <a:latin typeface="+mn-lt"/>
                <a:cs typeface="Calibri"/>
              </a:rPr>
              <a:t>s</a:t>
            </a:r>
            <a:r>
              <a:rPr lang="en-US" sz="2400" spc="-20" dirty="0">
                <a:latin typeface="+mn-lt"/>
                <a:cs typeface="Calibri"/>
              </a:rPr>
              <a:t>e</a:t>
            </a:r>
            <a:r>
              <a:rPr sz="2400" spc="-20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duplicate</a:t>
            </a:r>
            <a:r>
              <a:rPr lang="en-US" sz="2400" dirty="0">
                <a:latin typeface="+mn-lt"/>
                <a:cs typeface="Calibri"/>
              </a:rPr>
              <a:t>s</a:t>
            </a:r>
            <a:r>
              <a:rPr sz="2400" spc="-7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should</a:t>
            </a:r>
            <a:r>
              <a:rPr sz="2400" spc="-6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be</a:t>
            </a:r>
            <a:r>
              <a:rPr sz="2400" spc="-70" dirty="0">
                <a:latin typeface="+mn-lt"/>
                <a:cs typeface="Calibri"/>
              </a:rPr>
              <a:t> </a:t>
            </a:r>
            <a:r>
              <a:rPr sz="2400" spc="-10" dirty="0">
                <a:latin typeface="+mn-lt"/>
                <a:cs typeface="Calibri"/>
              </a:rPr>
              <a:t>reviewed</a:t>
            </a:r>
            <a:r>
              <a:rPr sz="2400" spc="-6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and</a:t>
            </a:r>
            <a:r>
              <a:rPr sz="2400" spc="-70" dirty="0">
                <a:latin typeface="+mn-lt"/>
                <a:cs typeface="Calibri"/>
              </a:rPr>
              <a:t> </a:t>
            </a:r>
            <a:r>
              <a:rPr sz="2400" spc="-10" dirty="0">
                <a:latin typeface="+mn-lt"/>
                <a:cs typeface="Calibri"/>
              </a:rPr>
              <a:t>removed</a:t>
            </a:r>
            <a:r>
              <a:rPr sz="2400" spc="-65" dirty="0">
                <a:latin typeface="+mn-lt"/>
                <a:cs typeface="Calibri"/>
              </a:rPr>
              <a:t> </a:t>
            </a:r>
            <a:r>
              <a:rPr sz="2400" spc="-25" dirty="0">
                <a:latin typeface="+mn-lt"/>
                <a:cs typeface="Calibri"/>
              </a:rPr>
              <a:t>if </a:t>
            </a:r>
            <a:r>
              <a:rPr sz="2400" dirty="0">
                <a:latin typeface="+mn-lt"/>
                <a:cs typeface="Calibri"/>
              </a:rPr>
              <a:t>necessary</a:t>
            </a:r>
            <a:r>
              <a:rPr sz="2400" spc="-7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to</a:t>
            </a:r>
            <a:r>
              <a:rPr sz="2400" spc="-8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ensure</a:t>
            </a:r>
            <a:r>
              <a:rPr sz="2400" spc="-85" dirty="0">
                <a:latin typeface="+mn-lt"/>
                <a:cs typeface="Calibri"/>
              </a:rPr>
              <a:t> </a:t>
            </a:r>
            <a:r>
              <a:rPr sz="2400" spc="-10" dirty="0">
                <a:latin typeface="+mn-lt"/>
                <a:cs typeface="Calibri"/>
              </a:rPr>
              <a:t>accurate</a:t>
            </a:r>
            <a:r>
              <a:rPr sz="2400" spc="-90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analysis</a:t>
            </a:r>
            <a:r>
              <a:rPr sz="2400" spc="-60" dirty="0">
                <a:latin typeface="+mn-lt"/>
                <a:cs typeface="Calibri"/>
              </a:rPr>
              <a:t> </a:t>
            </a:r>
            <a:r>
              <a:rPr sz="2400" spc="-25" dirty="0">
                <a:latin typeface="+mn-lt"/>
                <a:cs typeface="Calibri"/>
              </a:rPr>
              <a:t>and </a:t>
            </a:r>
            <a:r>
              <a:rPr sz="2400" dirty="0">
                <a:latin typeface="+mn-lt"/>
                <a:cs typeface="Calibri"/>
              </a:rPr>
              <a:t>reliable</a:t>
            </a:r>
            <a:r>
              <a:rPr sz="2400" spc="-105" dirty="0">
                <a:latin typeface="+mn-lt"/>
                <a:cs typeface="Calibri"/>
              </a:rPr>
              <a:t> </a:t>
            </a:r>
            <a:r>
              <a:rPr sz="2400" spc="-10" dirty="0">
                <a:latin typeface="+mn-lt"/>
                <a:cs typeface="Calibri"/>
              </a:rPr>
              <a:t>results.</a:t>
            </a:r>
            <a:endParaRPr sz="2400" dirty="0">
              <a:latin typeface="+mn-lt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86298" y="4224273"/>
            <a:ext cx="317500" cy="76200"/>
          </a:xfrm>
          <a:custGeom>
            <a:avLst/>
            <a:gdLst/>
            <a:ahLst/>
            <a:cxnLst/>
            <a:rect l="l" t="t" r="r" b="b"/>
            <a:pathLst>
              <a:path w="317500" h="76200">
                <a:moveTo>
                  <a:pt x="241300" y="0"/>
                </a:moveTo>
                <a:lnTo>
                  <a:pt x="241300" y="76200"/>
                </a:lnTo>
                <a:lnTo>
                  <a:pt x="304757" y="44576"/>
                </a:lnTo>
                <a:lnTo>
                  <a:pt x="254000" y="44576"/>
                </a:lnTo>
                <a:lnTo>
                  <a:pt x="254000" y="31876"/>
                </a:lnTo>
                <a:lnTo>
                  <a:pt x="304842" y="31876"/>
                </a:lnTo>
                <a:lnTo>
                  <a:pt x="241300" y="0"/>
                </a:lnTo>
                <a:close/>
              </a:path>
              <a:path w="317500" h="76200">
                <a:moveTo>
                  <a:pt x="241300" y="31876"/>
                </a:moveTo>
                <a:lnTo>
                  <a:pt x="0" y="31876"/>
                </a:lnTo>
                <a:lnTo>
                  <a:pt x="0" y="44576"/>
                </a:lnTo>
                <a:lnTo>
                  <a:pt x="241300" y="44576"/>
                </a:lnTo>
                <a:lnTo>
                  <a:pt x="241300" y="31876"/>
                </a:lnTo>
                <a:close/>
              </a:path>
              <a:path w="317500" h="76200">
                <a:moveTo>
                  <a:pt x="304842" y="31876"/>
                </a:moveTo>
                <a:lnTo>
                  <a:pt x="254000" y="31876"/>
                </a:lnTo>
                <a:lnTo>
                  <a:pt x="254000" y="44576"/>
                </a:lnTo>
                <a:lnTo>
                  <a:pt x="304757" y="44576"/>
                </a:lnTo>
                <a:lnTo>
                  <a:pt x="317500" y="38226"/>
                </a:lnTo>
                <a:lnTo>
                  <a:pt x="304842" y="31876"/>
                </a:lnTo>
                <a:close/>
              </a:path>
            </a:pathLst>
          </a:custGeom>
          <a:solidFill>
            <a:srgbClr val="742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119013-DF79-6F33-AB5B-7B391B3EE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458" y="1600200"/>
            <a:ext cx="2284342" cy="1219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FFA14E-0655-13C7-94F8-A8DD50090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10" y="4038601"/>
            <a:ext cx="2512942" cy="10863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0" dirty="0">
                <a:latin typeface="Calibri"/>
                <a:cs typeface="Calibri"/>
              </a:rPr>
              <a:t>HANDLING</a:t>
            </a:r>
            <a:r>
              <a:rPr sz="3200" b="0" spc="-114" dirty="0">
                <a:latin typeface="Calibri"/>
                <a:cs typeface="Calibri"/>
              </a:rPr>
              <a:t> </a:t>
            </a:r>
            <a:r>
              <a:rPr sz="3200" b="0" spc="-20" dirty="0">
                <a:latin typeface="Calibri"/>
                <a:cs typeface="Calibri"/>
              </a:rPr>
              <a:t>DUPLICATE</a:t>
            </a:r>
            <a:r>
              <a:rPr sz="3200" b="0" spc="-105" dirty="0">
                <a:latin typeface="Calibri"/>
                <a:cs typeface="Calibri"/>
              </a:rPr>
              <a:t> </a:t>
            </a:r>
            <a:r>
              <a:rPr sz="3200" b="0" spc="-10" dirty="0">
                <a:latin typeface="Calibri"/>
                <a:cs typeface="Calibri"/>
              </a:rPr>
              <a:t>VALUES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081523" y="1786001"/>
            <a:ext cx="279400" cy="76200"/>
          </a:xfrm>
          <a:custGeom>
            <a:avLst/>
            <a:gdLst/>
            <a:ahLst/>
            <a:cxnLst/>
            <a:rect l="l" t="t" r="r" b="b"/>
            <a:pathLst>
              <a:path w="279400" h="76200">
                <a:moveTo>
                  <a:pt x="203200" y="0"/>
                </a:moveTo>
                <a:lnTo>
                  <a:pt x="203200" y="76200"/>
                </a:lnTo>
                <a:lnTo>
                  <a:pt x="266700" y="44450"/>
                </a:lnTo>
                <a:lnTo>
                  <a:pt x="215900" y="44450"/>
                </a:lnTo>
                <a:lnTo>
                  <a:pt x="215900" y="31750"/>
                </a:lnTo>
                <a:lnTo>
                  <a:pt x="266700" y="31750"/>
                </a:lnTo>
                <a:lnTo>
                  <a:pt x="203200" y="0"/>
                </a:lnTo>
                <a:close/>
              </a:path>
              <a:path w="279400" h="76200">
                <a:moveTo>
                  <a:pt x="2032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03200" y="44450"/>
                </a:lnTo>
                <a:lnTo>
                  <a:pt x="203200" y="31750"/>
                </a:lnTo>
                <a:close/>
              </a:path>
              <a:path w="279400" h="76200">
                <a:moveTo>
                  <a:pt x="266700" y="31750"/>
                </a:moveTo>
                <a:lnTo>
                  <a:pt x="215900" y="31750"/>
                </a:lnTo>
                <a:lnTo>
                  <a:pt x="215900" y="44450"/>
                </a:lnTo>
                <a:lnTo>
                  <a:pt x="266700" y="44450"/>
                </a:lnTo>
                <a:lnTo>
                  <a:pt x="279400" y="38100"/>
                </a:lnTo>
                <a:lnTo>
                  <a:pt x="266700" y="31750"/>
                </a:lnTo>
                <a:close/>
              </a:path>
            </a:pathLst>
          </a:custGeom>
          <a:solidFill>
            <a:srgbClr val="742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698235" y="1280477"/>
            <a:ext cx="6260465" cy="14884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99900"/>
              </a:lnSpc>
              <a:spcBef>
                <a:spcPts val="105"/>
              </a:spcBef>
            </a:pPr>
            <a:r>
              <a:rPr sz="2400" dirty="0">
                <a:latin typeface="+mn-lt"/>
                <a:cs typeface="Calibri"/>
              </a:rPr>
              <a:t>The</a:t>
            </a:r>
            <a:r>
              <a:rPr sz="2400" spc="434" dirty="0">
                <a:latin typeface="+mn-lt"/>
                <a:cs typeface="Calibri"/>
              </a:rPr>
              <a:t>  </a:t>
            </a:r>
            <a:r>
              <a:rPr sz="2400" dirty="0">
                <a:latin typeface="+mn-lt"/>
                <a:cs typeface="Calibri"/>
              </a:rPr>
              <a:t>duplicate</a:t>
            </a:r>
            <a:r>
              <a:rPr sz="2400" spc="450" dirty="0">
                <a:latin typeface="+mn-lt"/>
                <a:cs typeface="Calibri"/>
              </a:rPr>
              <a:t>  </a:t>
            </a:r>
            <a:r>
              <a:rPr sz="2400" dirty="0">
                <a:latin typeface="+mn-lt"/>
                <a:cs typeface="Calibri"/>
              </a:rPr>
              <a:t>record</a:t>
            </a:r>
            <a:r>
              <a:rPr sz="2400" spc="440" dirty="0">
                <a:latin typeface="+mn-lt"/>
                <a:cs typeface="Calibri"/>
              </a:rPr>
              <a:t>  </a:t>
            </a:r>
            <a:r>
              <a:rPr sz="2400" dirty="0">
                <a:latin typeface="+mn-lt"/>
                <a:cs typeface="Calibri"/>
              </a:rPr>
              <a:t>has</a:t>
            </a:r>
            <a:r>
              <a:rPr sz="2400" spc="459" dirty="0">
                <a:latin typeface="+mn-lt"/>
                <a:cs typeface="Calibri"/>
              </a:rPr>
              <a:t>  </a:t>
            </a:r>
            <a:r>
              <a:rPr sz="2400" dirty="0">
                <a:latin typeface="+mn-lt"/>
                <a:cs typeface="Calibri"/>
              </a:rPr>
              <a:t>been</a:t>
            </a:r>
            <a:r>
              <a:rPr sz="2400" spc="455" dirty="0">
                <a:latin typeface="+mn-lt"/>
                <a:cs typeface="Calibri"/>
              </a:rPr>
              <a:t>  </a:t>
            </a:r>
            <a:r>
              <a:rPr sz="2400" spc="-10" dirty="0">
                <a:latin typeface="+mn-lt"/>
                <a:cs typeface="Calibri"/>
              </a:rPr>
              <a:t>successfully </a:t>
            </a:r>
            <a:r>
              <a:rPr sz="2400" dirty="0">
                <a:latin typeface="+mn-lt"/>
                <a:cs typeface="Calibri"/>
              </a:rPr>
              <a:t>removed</a:t>
            </a:r>
            <a:r>
              <a:rPr sz="2400" spc="59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from</a:t>
            </a:r>
            <a:r>
              <a:rPr sz="2400" spc="35" dirty="0">
                <a:latin typeface="+mn-lt"/>
                <a:cs typeface="Calibri"/>
              </a:rPr>
              <a:t>  </a:t>
            </a:r>
            <a:r>
              <a:rPr sz="2400" dirty="0">
                <a:latin typeface="+mn-lt"/>
                <a:cs typeface="Calibri"/>
              </a:rPr>
              <a:t>the</a:t>
            </a:r>
            <a:r>
              <a:rPr sz="2400" spc="55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dataset.</a:t>
            </a:r>
            <a:r>
              <a:rPr sz="2400" spc="57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Now,</a:t>
            </a:r>
            <a:r>
              <a:rPr sz="2400" spc="35" dirty="0">
                <a:latin typeface="+mn-lt"/>
                <a:cs typeface="Calibri"/>
              </a:rPr>
              <a:t>  </a:t>
            </a:r>
            <a:r>
              <a:rPr sz="2400" dirty="0">
                <a:latin typeface="+mn-lt"/>
                <a:cs typeface="Calibri"/>
              </a:rPr>
              <a:t>there</a:t>
            </a:r>
            <a:r>
              <a:rPr sz="2400" spc="40" dirty="0">
                <a:latin typeface="+mn-lt"/>
                <a:cs typeface="Calibri"/>
              </a:rPr>
              <a:t>  </a:t>
            </a:r>
            <a:r>
              <a:rPr sz="2400" dirty="0">
                <a:latin typeface="+mn-lt"/>
                <a:cs typeface="Calibri"/>
              </a:rPr>
              <a:t>are</a:t>
            </a:r>
            <a:r>
              <a:rPr sz="2400" spc="595" dirty="0">
                <a:latin typeface="+mn-lt"/>
                <a:cs typeface="Calibri"/>
              </a:rPr>
              <a:t> </a:t>
            </a:r>
            <a:r>
              <a:rPr sz="2400" spc="-25" dirty="0">
                <a:latin typeface="+mn-lt"/>
                <a:cs typeface="Calibri"/>
              </a:rPr>
              <a:t>no </a:t>
            </a:r>
            <a:r>
              <a:rPr sz="2400" dirty="0">
                <a:latin typeface="+mn-lt"/>
                <a:cs typeface="Calibri"/>
              </a:rPr>
              <a:t>duplicate</a:t>
            </a:r>
            <a:r>
              <a:rPr sz="2400" spc="260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rows,</a:t>
            </a:r>
            <a:r>
              <a:rPr sz="2400" spc="30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and</a:t>
            </a:r>
            <a:r>
              <a:rPr sz="2400" spc="28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the</a:t>
            </a:r>
            <a:r>
              <a:rPr sz="2400" spc="24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data</a:t>
            </a:r>
            <a:r>
              <a:rPr sz="2400" spc="280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is</a:t>
            </a:r>
            <a:r>
              <a:rPr sz="2400" spc="29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clean</a:t>
            </a:r>
            <a:r>
              <a:rPr sz="2400" spc="290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for</a:t>
            </a:r>
            <a:r>
              <a:rPr sz="2400" spc="270" dirty="0">
                <a:latin typeface="+mn-lt"/>
                <a:cs typeface="Calibri"/>
              </a:rPr>
              <a:t> </a:t>
            </a:r>
            <a:r>
              <a:rPr sz="2400" spc="-10" dirty="0">
                <a:latin typeface="+mn-lt"/>
                <a:cs typeface="Calibri"/>
              </a:rPr>
              <a:t>further analysis.</a:t>
            </a:r>
            <a:endParaRPr sz="2400" dirty="0">
              <a:latin typeface="+mn-lt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706" y="1319658"/>
            <a:ext cx="3309043" cy="14492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445" rIns="0" bIns="0" rtlCol="0">
            <a:spAutoFit/>
          </a:bodyPr>
          <a:lstStyle/>
          <a:p>
            <a:pPr marL="3335020">
              <a:lnSpc>
                <a:spcPct val="100000"/>
              </a:lnSpc>
              <a:spcBef>
                <a:spcPts val="105"/>
              </a:spcBef>
            </a:pPr>
            <a:r>
              <a:rPr spc="-175" dirty="0"/>
              <a:t>DATA</a:t>
            </a:r>
            <a:r>
              <a:rPr spc="-30" dirty="0"/>
              <a:t> </a:t>
            </a:r>
            <a:r>
              <a:rPr dirty="0"/>
              <a:t>TYPE</a:t>
            </a:r>
            <a:r>
              <a:rPr spc="-65" dirty="0"/>
              <a:t> </a:t>
            </a:r>
            <a:r>
              <a:rPr spc="-10" dirty="0"/>
              <a:t>CORRECTION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4030" y="4700206"/>
            <a:ext cx="10642600" cy="75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4330" marR="5080" indent="-342265" algn="just">
              <a:lnSpc>
                <a:spcPct val="100400"/>
              </a:lnSpc>
              <a:spcBef>
                <a:spcPts val="90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lang="en-US" sz="2400" spc="30" dirty="0">
                <a:latin typeface="Calibri"/>
                <a:cs typeface="Calibri"/>
              </a:rPr>
              <a:t>location is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changed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lang="en-US" sz="2400" spc="80" dirty="0">
                <a:latin typeface="Calibri"/>
                <a:cs typeface="Calibri"/>
              </a:rPr>
              <a:t>object to category </a:t>
            </a:r>
            <a:r>
              <a:rPr lang="en-US" sz="2400" spc="80" dirty="0" err="1">
                <a:latin typeface="Calibri"/>
                <a:cs typeface="Calibri"/>
              </a:rPr>
              <a:t>format.Also</a:t>
            </a:r>
            <a:r>
              <a:rPr lang="en-US" sz="2400" spc="80" dirty="0">
                <a:latin typeface="Calibri"/>
                <a:cs typeface="Calibri"/>
              </a:rPr>
              <a:t> the memory optimization is done for all variables in the dataset.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DAF070-780A-0C52-2DE4-8D6CDBD49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001807"/>
            <a:ext cx="3810330" cy="31473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6770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105"/>
              </a:spcBef>
            </a:pPr>
            <a:r>
              <a:rPr sz="5400" spc="-75" baseline="-2314" dirty="0"/>
              <a:t>UNIVARIATE</a:t>
            </a:r>
            <a:r>
              <a:rPr sz="5400" spc="-67" baseline="-2314" dirty="0"/>
              <a:t> </a:t>
            </a:r>
            <a:r>
              <a:rPr sz="5400" spc="-97" baseline="-2314" dirty="0"/>
              <a:t>ANALYSIS</a:t>
            </a:r>
            <a:r>
              <a:rPr sz="5400" spc="-367" baseline="-2314" dirty="0"/>
              <a:t> </a:t>
            </a:r>
            <a:r>
              <a:rPr sz="1800" b="0" spc="-10" dirty="0">
                <a:latin typeface="Calibri"/>
                <a:cs typeface="Calibri"/>
              </a:rPr>
              <a:t>(non-visualization)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8169F1-F961-307D-E89A-E08E9EF59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14600"/>
            <a:ext cx="3429000" cy="19999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35F680-9165-61F5-B38C-3FA86A793399}"/>
              </a:ext>
            </a:extLst>
          </p:cNvPr>
          <p:cNvSpPr txBox="1"/>
          <p:nvPr/>
        </p:nvSpPr>
        <p:spPr>
          <a:xfrm>
            <a:off x="6248400" y="2692794"/>
            <a:ext cx="4572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 dataset is dominated by 2 and 3 bedroom houses, with 3-bedroom properties being the most common.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Houses with higher bedroom counts (4 and above) are relatively few, indicating limited availability of large or luxury properties</a:t>
            </a:r>
            <a:endParaRPr lang="en-IN" sz="2400" dirty="0">
              <a:latin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775" y="413130"/>
            <a:ext cx="424497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UNIVARIATE</a:t>
            </a:r>
            <a:r>
              <a:rPr spc="-135" dirty="0"/>
              <a:t> </a:t>
            </a:r>
            <a:r>
              <a:rPr spc="-3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83529" y="561403"/>
            <a:ext cx="13036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(visualization)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3775" y="3026473"/>
            <a:ext cx="379222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400" dirty="0"/>
              <a:t>• </a:t>
            </a:r>
            <a:r>
              <a:rPr lang="en-US" sz="2400" dirty="0">
                <a:latin typeface="+mn-lt"/>
              </a:rPr>
              <a:t>The distribution of house prices shows right skewness, indicating more mid-range houses and fewer high-priced properties.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553DD1-BEED-07D9-60AA-E2E1ADB60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371600"/>
            <a:ext cx="3200400" cy="1371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247F68-53AF-5C43-1314-6A75655BB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0" y="1371600"/>
            <a:ext cx="6363251" cy="4381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3909" y="2711386"/>
            <a:ext cx="4687570" cy="18723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latin typeface="+mn-lt"/>
              </a:rPr>
              <a:t>Area values are mostly concentrated within a common range, with a few very large properties acting as outliers.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sz="2400" dirty="0">
              <a:latin typeface="Calibri"/>
              <a:cs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2A961E-8124-8455-F7BA-6C098C4C3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09600"/>
            <a:ext cx="4191000" cy="1752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F8C54D-18DE-484C-FC86-90380B8E7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982" y="1066800"/>
            <a:ext cx="5768840" cy="400084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1380" y="304165"/>
            <a:ext cx="573722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5400" spc="-67" baseline="-7716" dirty="0"/>
              <a:t>BIVARIATE</a:t>
            </a:r>
            <a:r>
              <a:rPr sz="5400" spc="-142" baseline="-7716" dirty="0"/>
              <a:t> </a:t>
            </a:r>
            <a:r>
              <a:rPr sz="5400" spc="-97" baseline="-7716" dirty="0"/>
              <a:t>ANALYSIS</a:t>
            </a:r>
            <a:r>
              <a:rPr sz="5400" spc="-367" baseline="-7716" dirty="0"/>
              <a:t> </a:t>
            </a:r>
            <a:r>
              <a:rPr sz="1800" b="0" spc="-10" dirty="0">
                <a:latin typeface="Calibri"/>
                <a:cs typeface="Calibri"/>
              </a:rPr>
              <a:t>(non-visualization)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8368" y="1064577"/>
            <a:ext cx="5147310" cy="445634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37820" marR="5080">
              <a:lnSpc>
                <a:spcPct val="100400"/>
              </a:lnSpc>
              <a:spcBef>
                <a:spcPts val="90"/>
              </a:spcBef>
            </a:pPr>
            <a:r>
              <a:rPr lang="en-US" sz="2400" dirty="0">
                <a:latin typeface="+mn-lt"/>
              </a:rPr>
              <a:t>Area (sq ft) and Price show a strong positive correlation, indicating that properties with larger areas tend to have higher prices with minimal variation.</a:t>
            </a:r>
          </a:p>
          <a:p>
            <a:pPr marL="337820" marR="5080">
              <a:lnSpc>
                <a:spcPct val="100400"/>
              </a:lnSpc>
              <a:spcBef>
                <a:spcPts val="90"/>
              </a:spcBef>
            </a:pPr>
            <a:endParaRPr sz="2400" dirty="0">
              <a:latin typeface="+mn-lt"/>
              <a:cs typeface="Calibri"/>
            </a:endParaRPr>
          </a:p>
          <a:p>
            <a:pPr marL="12700" marR="683895">
              <a:lnSpc>
                <a:spcPct val="100400"/>
              </a:lnSpc>
              <a:spcBef>
                <a:spcPts val="5"/>
              </a:spcBef>
            </a:pPr>
            <a:r>
              <a:rPr lang="en-US" sz="2400" dirty="0">
                <a:latin typeface="+mn-lt"/>
              </a:rPr>
              <a:t>The analysis shows that average and median house prices vary significantly across different locations, indicating that location plays a major role in determining property prices in Hyderabad.</a:t>
            </a:r>
            <a:endParaRPr sz="1800" dirty="0">
              <a:latin typeface="+mn-lt"/>
              <a:cs typeface="Arial M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E3B346-D151-23AD-07C1-7731CBAE5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35080"/>
            <a:ext cx="2819400" cy="14631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8635B5-FE67-0516-B0CA-423C24358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53852"/>
            <a:ext cx="4419600" cy="327660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272529" y="893699"/>
            <a:ext cx="4982845" cy="26225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0"/>
              </a:spcBef>
            </a:pPr>
            <a:endParaRPr lang="en-US" sz="2400" dirty="0"/>
          </a:p>
          <a:p>
            <a:pPr marL="12700" marR="5080">
              <a:lnSpc>
                <a:spcPct val="100400"/>
              </a:lnSpc>
              <a:spcBef>
                <a:spcPts val="90"/>
              </a:spcBef>
            </a:pPr>
            <a:endParaRPr lang="en-US" sz="2400" dirty="0"/>
          </a:p>
          <a:p>
            <a:r>
              <a:rPr lang="en-US" sz="2400" dirty="0">
                <a:latin typeface="+mn-lt"/>
              </a:rPr>
              <a:t>Resale and non-resale property distribution differs across locations, reflecting location-specific market behavior.</a:t>
            </a:r>
          </a:p>
          <a:p>
            <a:pPr marL="12700" marR="5080">
              <a:lnSpc>
                <a:spcPct val="100400"/>
              </a:lnSpc>
              <a:spcBef>
                <a:spcPts val="90"/>
              </a:spcBef>
            </a:pPr>
            <a:endParaRPr sz="2400" dirty="0"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F9B34B-8C75-E39F-DB93-6701DEAC5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6" y="609600"/>
            <a:ext cx="3894157" cy="47095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9235" rIns="0" bIns="0" rtlCol="0">
            <a:spAutoFit/>
          </a:bodyPr>
          <a:lstStyle/>
          <a:p>
            <a:pPr marL="15748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BIVARIATE</a:t>
            </a:r>
            <a:r>
              <a:rPr spc="-155" dirty="0"/>
              <a:t> </a:t>
            </a:r>
            <a:r>
              <a:rPr spc="-40" dirty="0"/>
              <a:t>ANALYSIS</a:t>
            </a:r>
            <a:r>
              <a:rPr spc="-110" dirty="0"/>
              <a:t> </a:t>
            </a:r>
            <a:r>
              <a:rPr sz="2700" b="0" spc="-15" baseline="20061" dirty="0">
                <a:latin typeface="Calibri"/>
                <a:cs typeface="Calibri"/>
              </a:rPr>
              <a:t>(visualization)</a:t>
            </a:r>
            <a:endParaRPr sz="2700" baseline="20061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5760720" y="2692336"/>
            <a:ext cx="5901055" cy="26096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5600" marR="6985" indent="-342900">
              <a:lnSpc>
                <a:spcPct val="100400"/>
              </a:lnSpc>
              <a:spcBef>
                <a:spcPts val="90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dirty="0">
                <a:latin typeface="+mn-lt"/>
              </a:rPr>
              <a:t>There is a strong positive linear relationship between Area and Price, indicating that property prices increase proportionally as the built-up area increases.</a:t>
            </a:r>
          </a:p>
          <a:p>
            <a:pPr marL="355600" marR="6985" indent="-342900">
              <a:lnSpc>
                <a:spcPct val="100400"/>
              </a:lnSpc>
              <a:spcBef>
                <a:spcPts val="90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dirty="0">
                <a:latin typeface="+mn-lt"/>
              </a:rPr>
              <a:t>The points are closely clustered along an upward trend, showing a consistent relationship with only a few outliers.</a:t>
            </a:r>
            <a:endParaRPr spc="-10" dirty="0"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BCCB93-E359-AE8E-69EC-68E7C4BFA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95400"/>
            <a:ext cx="4518279" cy="10301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A0E776-AABF-C8C6-3620-846A16E15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11" y="2456749"/>
            <a:ext cx="4798034" cy="342900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2540" y="3531806"/>
            <a:ext cx="895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62495" y="2196211"/>
            <a:ext cx="4559300" cy="33483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5600" marR="95885" indent="-343535">
              <a:lnSpc>
                <a:spcPct val="100400"/>
              </a:lnSpc>
              <a:spcBef>
                <a:spcPts val="90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400" dirty="0">
                <a:latin typeface="+mn-lt"/>
              </a:rPr>
              <a:t>The bar plot shows variation in house prices across different locations, indicating that property prices differ significantly by locality.</a:t>
            </a:r>
          </a:p>
          <a:p>
            <a:pPr marL="355600" marR="95885" indent="-343535">
              <a:lnSpc>
                <a:spcPct val="100400"/>
              </a:lnSpc>
              <a:spcBef>
                <a:spcPts val="90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400" dirty="0">
                <a:latin typeface="+mn-lt"/>
              </a:rPr>
              <a:t> Some locations exhibit higher price levels, reflecting their premium nature compared to other areas.</a:t>
            </a:r>
            <a:endParaRPr sz="1800" dirty="0">
              <a:latin typeface="+mn-lt"/>
              <a:cs typeface="Arial M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B33391-14E3-4C59-4592-0E8B64642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620788"/>
            <a:ext cx="4172514" cy="6361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4F0747-514A-F74D-BFFE-6E635F3CA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33" y="1903196"/>
            <a:ext cx="5680075" cy="385792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020689" y="1895792"/>
            <a:ext cx="4754880" cy="334835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3060" marR="264795" indent="-340995" algn="just">
              <a:lnSpc>
                <a:spcPct val="100400"/>
              </a:lnSpc>
              <a:spcBef>
                <a:spcPts val="90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400" dirty="0">
                <a:latin typeface="+mn-lt"/>
              </a:rPr>
              <a:t>The stacked bar chart illustrates the distribution of resale and non-resale properties across different locations.</a:t>
            </a:r>
          </a:p>
          <a:p>
            <a:pPr marL="353060" marR="264795" indent="-340995" algn="just">
              <a:lnSpc>
                <a:spcPct val="100400"/>
              </a:lnSpc>
              <a:spcBef>
                <a:spcPts val="90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400" dirty="0">
                <a:latin typeface="+mn-lt"/>
              </a:rPr>
              <a:t>It highlights how the proportion of resale properties varies by locality, reflecting differences in housing market dynamics across Hyderabad</a:t>
            </a:r>
            <a:endParaRPr sz="2400" dirty="0">
              <a:latin typeface="+mn-lt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1AF8C0-F898-3BB0-C7C0-9FABBCB4E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876" y="685800"/>
            <a:ext cx="3937123" cy="990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70ADFF-CE08-815E-3CB6-74D18BB0B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81200"/>
            <a:ext cx="5181600" cy="396240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0834" y="223774"/>
            <a:ext cx="363347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OVERALL</a:t>
            </a:r>
            <a:r>
              <a:rPr spc="-130" dirty="0"/>
              <a:t> </a:t>
            </a:r>
            <a:r>
              <a:rPr spc="-10" dirty="0"/>
              <a:t>INSIGHTS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020" y="911605"/>
            <a:ext cx="11405235" cy="430451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4465" indent="-158750">
              <a:lnSpc>
                <a:spcPct val="150000"/>
              </a:lnSpc>
              <a:spcBef>
                <a:spcPts val="105"/>
              </a:spcBef>
              <a:buSzPct val="95833"/>
              <a:buChar char="•"/>
              <a:tabLst>
                <a:tab pos="164465" algn="l"/>
              </a:tabLst>
            </a:pPr>
            <a:r>
              <a:rPr lang="en-US" sz="2400" dirty="0">
                <a:latin typeface="+mn-lt"/>
              </a:rPr>
              <a:t>House prices in Hyderabad strongly depend on area and location. </a:t>
            </a:r>
          </a:p>
          <a:p>
            <a:pPr marL="164465" indent="-158750">
              <a:lnSpc>
                <a:spcPct val="150000"/>
              </a:lnSpc>
              <a:spcBef>
                <a:spcPts val="105"/>
              </a:spcBef>
              <a:buSzPct val="95833"/>
              <a:buFontTx/>
              <a:buChar char="•"/>
              <a:tabLst>
                <a:tab pos="164465" algn="l"/>
              </a:tabLst>
            </a:pPr>
            <a:r>
              <a:rPr lang="en-US" sz="2400" dirty="0">
                <a:latin typeface="+mn-lt"/>
              </a:rPr>
              <a:t>Larger properties tend to have higher prices, showing a clear size-price relationship.</a:t>
            </a:r>
          </a:p>
          <a:p>
            <a:pPr marL="164465" indent="-158750">
              <a:lnSpc>
                <a:spcPct val="150000"/>
              </a:lnSpc>
              <a:spcBef>
                <a:spcPts val="105"/>
              </a:spcBef>
              <a:buSzPct val="95833"/>
              <a:buFontTx/>
              <a:buChar char="•"/>
              <a:tabLst>
                <a:tab pos="164465" algn="l"/>
              </a:tabLst>
            </a:pPr>
            <a:r>
              <a:rPr lang="en-US" sz="2400" dirty="0">
                <a:latin typeface="+mn-lt"/>
              </a:rPr>
              <a:t>Certain locations consistently show higher price ranges, indicating premium residential areas.</a:t>
            </a:r>
          </a:p>
          <a:p>
            <a:pPr marL="164465" indent="-158750">
              <a:lnSpc>
                <a:spcPct val="150000"/>
              </a:lnSpc>
              <a:spcBef>
                <a:spcPts val="105"/>
              </a:spcBef>
              <a:buSzPct val="95833"/>
              <a:buFontTx/>
              <a:buChar char="•"/>
              <a:tabLst>
                <a:tab pos="164465" algn="l"/>
              </a:tabLst>
            </a:pPr>
            <a:r>
              <a:rPr lang="en-US" sz="2400" dirty="0">
                <a:latin typeface="+mn-lt"/>
              </a:rPr>
              <a:t> The dataset contains a mix of affordable, mid-range, and luxury properties.</a:t>
            </a:r>
          </a:p>
          <a:p>
            <a:pPr marL="164465" indent="-158750">
              <a:lnSpc>
                <a:spcPct val="150000"/>
              </a:lnSpc>
              <a:spcBef>
                <a:spcPts val="105"/>
              </a:spcBef>
              <a:buSzPct val="95833"/>
              <a:buFontTx/>
              <a:buChar char="•"/>
              <a:tabLst>
                <a:tab pos="164465" algn="l"/>
              </a:tabLst>
            </a:pPr>
            <a:r>
              <a:rPr lang="en-US" sz="2400" dirty="0">
                <a:latin typeface="+mn-lt"/>
              </a:rPr>
              <a:t>Resale properties are distributed across multiple locations, indicating an active secondary housing market in the city.</a:t>
            </a:r>
          </a:p>
          <a:p>
            <a:pPr marL="164465" indent="-158750">
              <a:lnSpc>
                <a:spcPts val="2865"/>
              </a:lnSpc>
              <a:spcBef>
                <a:spcPts val="105"/>
              </a:spcBef>
              <a:buSzPct val="95833"/>
              <a:buFontTx/>
              <a:buChar char="•"/>
              <a:tabLst>
                <a:tab pos="164465" algn="l"/>
              </a:tabLst>
            </a:pP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6491" rIns="0" bIns="0" rtlCol="0">
            <a:spAutoFit/>
          </a:bodyPr>
          <a:lstStyle/>
          <a:p>
            <a:pPr marL="368109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CHALLENGES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494" y="1219898"/>
            <a:ext cx="10426700" cy="43763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• </a:t>
            </a:r>
            <a:r>
              <a:rPr lang="en-US" sz="2400" dirty="0">
                <a:latin typeface="+mn-lt"/>
              </a:rPr>
              <a:t>The dataset initially contained an invalid value  used to represent uncertain data, which required careful identification.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+mn-lt"/>
              </a:rPr>
              <a:t>• These invalid values were replaced and subsequently removed to maintain data consistency and reliability.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+mn-lt"/>
              </a:rPr>
              <a:t>• Price values showed high variability, making outlier detection an important aspect of the analysis.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+mn-lt"/>
              </a:rPr>
              <a:t>• Some locations had fewer records, limiting deeper comparative analysis across all areas.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3745" y="343535"/>
            <a:ext cx="254571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6097" y="1229931"/>
            <a:ext cx="10652760" cy="40773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 indent="-158750">
              <a:lnSpc>
                <a:spcPts val="2865"/>
              </a:lnSpc>
              <a:spcBef>
                <a:spcPts val="100"/>
              </a:spcBef>
              <a:buSzPct val="95833"/>
              <a:buChar char="•"/>
              <a:tabLst>
                <a:tab pos="165100" algn="l"/>
              </a:tabLst>
            </a:pPr>
            <a:r>
              <a:rPr sz="2400" spc="-10" dirty="0">
                <a:latin typeface="+mn-lt"/>
                <a:cs typeface="Calibri"/>
              </a:rPr>
              <a:t>Overall,</a:t>
            </a:r>
            <a:r>
              <a:rPr sz="2400" spc="-8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the</a:t>
            </a:r>
            <a:r>
              <a:rPr sz="2400" spc="-75" dirty="0">
                <a:latin typeface="+mn-lt"/>
                <a:cs typeface="Calibri"/>
              </a:rPr>
              <a:t> </a:t>
            </a:r>
            <a:r>
              <a:rPr sz="2400" spc="-10" dirty="0">
                <a:latin typeface="+mn-lt"/>
                <a:cs typeface="Calibri"/>
              </a:rPr>
              <a:t>Exploratory</a:t>
            </a:r>
            <a:r>
              <a:rPr sz="2400" spc="-60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Data</a:t>
            </a:r>
            <a:r>
              <a:rPr sz="2400" spc="-10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Analysis</a:t>
            </a:r>
            <a:r>
              <a:rPr sz="2400" spc="-50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helped</a:t>
            </a:r>
            <a:r>
              <a:rPr sz="2400" spc="-6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us</a:t>
            </a:r>
            <a:r>
              <a:rPr sz="2400" spc="-5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clearly</a:t>
            </a:r>
            <a:r>
              <a:rPr sz="2400" spc="-55" dirty="0">
                <a:latin typeface="+mn-lt"/>
                <a:cs typeface="Calibri"/>
              </a:rPr>
              <a:t> </a:t>
            </a:r>
            <a:r>
              <a:rPr sz="2400" spc="-10" dirty="0">
                <a:latin typeface="+mn-lt"/>
                <a:cs typeface="Calibri"/>
              </a:rPr>
              <a:t>understand</a:t>
            </a:r>
            <a:r>
              <a:rPr sz="2400" spc="-7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the</a:t>
            </a:r>
            <a:r>
              <a:rPr sz="2400" spc="-75" dirty="0">
                <a:latin typeface="+mn-lt"/>
                <a:cs typeface="Calibri"/>
              </a:rPr>
              <a:t> </a:t>
            </a:r>
            <a:r>
              <a:rPr sz="2400" spc="-10" dirty="0">
                <a:latin typeface="+mn-lt"/>
                <a:cs typeface="Calibri"/>
              </a:rPr>
              <a:t>structure,</a:t>
            </a:r>
            <a:endParaRPr sz="2400" dirty="0">
              <a:latin typeface="+mn-lt"/>
              <a:cs typeface="Calibri"/>
            </a:endParaRPr>
          </a:p>
          <a:p>
            <a:pPr marL="12700">
              <a:lnSpc>
                <a:spcPts val="2865"/>
              </a:lnSpc>
            </a:pPr>
            <a:r>
              <a:rPr sz="2400" spc="-10" dirty="0">
                <a:latin typeface="+mn-lt"/>
                <a:cs typeface="Calibri"/>
              </a:rPr>
              <a:t>quality,</a:t>
            </a:r>
            <a:r>
              <a:rPr sz="2400" spc="-50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and</a:t>
            </a:r>
            <a:r>
              <a:rPr sz="2400" spc="-40" dirty="0">
                <a:latin typeface="+mn-lt"/>
                <a:cs typeface="Calibri"/>
              </a:rPr>
              <a:t> </a:t>
            </a:r>
            <a:r>
              <a:rPr sz="2400" spc="-10" dirty="0">
                <a:latin typeface="+mn-lt"/>
                <a:cs typeface="Calibri"/>
              </a:rPr>
              <a:t>behavior</a:t>
            </a:r>
            <a:r>
              <a:rPr sz="2400" spc="-6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of</a:t>
            </a:r>
            <a:r>
              <a:rPr sz="2400" spc="-30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the</a:t>
            </a:r>
            <a:r>
              <a:rPr sz="2400" spc="-45" dirty="0">
                <a:latin typeface="+mn-lt"/>
                <a:cs typeface="Calibri"/>
              </a:rPr>
              <a:t> </a:t>
            </a:r>
            <a:r>
              <a:rPr lang="en-US" sz="2400" spc="-45" dirty="0">
                <a:latin typeface="+mn-lt"/>
                <a:cs typeface="Calibri"/>
              </a:rPr>
              <a:t>housing price</a:t>
            </a:r>
            <a:r>
              <a:rPr sz="2400" spc="-20" dirty="0">
                <a:latin typeface="+mn-lt"/>
                <a:cs typeface="Calibri"/>
              </a:rPr>
              <a:t> </a:t>
            </a:r>
            <a:r>
              <a:rPr sz="2400" spc="-10" dirty="0">
                <a:latin typeface="+mn-lt"/>
                <a:cs typeface="Calibri"/>
              </a:rPr>
              <a:t>dataset.</a:t>
            </a:r>
            <a:endParaRPr sz="2400" dirty="0">
              <a:latin typeface="+mn-lt"/>
              <a:cs typeface="Calibri"/>
            </a:endParaRPr>
          </a:p>
          <a:p>
            <a:pPr marL="12700" marR="5080" indent="-6350">
              <a:lnSpc>
                <a:spcPct val="101600"/>
              </a:lnSpc>
              <a:spcBef>
                <a:spcPts val="2860"/>
              </a:spcBef>
              <a:buSzPct val="95833"/>
              <a:buChar char="•"/>
              <a:tabLst>
                <a:tab pos="165100" algn="l"/>
              </a:tabLst>
            </a:pPr>
            <a:r>
              <a:rPr sz="2400" dirty="0">
                <a:latin typeface="+mn-lt"/>
                <a:cs typeface="Calibri"/>
              </a:rPr>
              <a:t>	The</a:t>
            </a:r>
            <a:r>
              <a:rPr sz="2400" spc="-65" dirty="0">
                <a:latin typeface="+mn-lt"/>
                <a:cs typeface="Calibri"/>
              </a:rPr>
              <a:t> </a:t>
            </a:r>
            <a:r>
              <a:rPr sz="2400" spc="-10" dirty="0">
                <a:latin typeface="+mn-lt"/>
                <a:cs typeface="Calibri"/>
              </a:rPr>
              <a:t>data</a:t>
            </a:r>
            <a:r>
              <a:rPr sz="2400" spc="-90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was</a:t>
            </a:r>
            <a:r>
              <a:rPr sz="2400" spc="-3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mostly</a:t>
            </a:r>
            <a:r>
              <a:rPr sz="2400" spc="-4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clean,</a:t>
            </a:r>
            <a:r>
              <a:rPr sz="2400" spc="-6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with</a:t>
            </a:r>
            <a:r>
              <a:rPr sz="2400" spc="-60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no</a:t>
            </a:r>
            <a:r>
              <a:rPr sz="2400" spc="-60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missing</a:t>
            </a:r>
            <a:r>
              <a:rPr sz="2400" spc="-70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values</a:t>
            </a:r>
            <a:r>
              <a:rPr sz="2400" spc="-3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and</a:t>
            </a:r>
            <a:r>
              <a:rPr sz="2400" spc="-60" dirty="0">
                <a:latin typeface="+mn-lt"/>
                <a:cs typeface="Calibri"/>
              </a:rPr>
              <a:t> </a:t>
            </a:r>
            <a:r>
              <a:rPr lang="en-US" sz="2400" spc="-60" dirty="0">
                <a:latin typeface="+mn-lt"/>
                <a:cs typeface="Calibri"/>
              </a:rPr>
              <a:t>with some </a:t>
            </a:r>
            <a:r>
              <a:rPr sz="2400" spc="-10" dirty="0">
                <a:latin typeface="+mn-lt"/>
                <a:cs typeface="Calibri"/>
              </a:rPr>
              <a:t>duplicate</a:t>
            </a:r>
            <a:r>
              <a:rPr lang="en-US" sz="2400" spc="-10" dirty="0">
                <a:latin typeface="+mn-lt"/>
                <a:cs typeface="Calibri"/>
              </a:rPr>
              <a:t>s</a:t>
            </a:r>
            <a:r>
              <a:rPr sz="2400" spc="-10" dirty="0">
                <a:latin typeface="+mn-lt"/>
                <a:cs typeface="Calibri"/>
              </a:rPr>
              <a:t>,</a:t>
            </a:r>
            <a:r>
              <a:rPr sz="2400" spc="-6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which</a:t>
            </a:r>
            <a:r>
              <a:rPr sz="2400" spc="-55" dirty="0">
                <a:latin typeface="+mn-lt"/>
                <a:cs typeface="Calibri"/>
              </a:rPr>
              <a:t> </a:t>
            </a:r>
            <a:r>
              <a:rPr sz="2400" spc="-25" dirty="0">
                <a:latin typeface="+mn-lt"/>
                <a:cs typeface="Calibri"/>
              </a:rPr>
              <a:t>was </a:t>
            </a:r>
            <a:r>
              <a:rPr sz="2400" dirty="0">
                <a:latin typeface="+mn-lt"/>
                <a:cs typeface="Calibri"/>
              </a:rPr>
              <a:t>successfully</a:t>
            </a:r>
            <a:r>
              <a:rPr sz="2400" spc="-60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handled,</a:t>
            </a:r>
            <a:r>
              <a:rPr sz="2400" spc="-8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making</a:t>
            </a:r>
            <a:r>
              <a:rPr sz="2400" spc="-85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the</a:t>
            </a:r>
            <a:r>
              <a:rPr sz="2400" spc="-15" dirty="0">
                <a:latin typeface="+mn-lt"/>
                <a:cs typeface="Calibri"/>
              </a:rPr>
              <a:t> </a:t>
            </a:r>
            <a:r>
              <a:rPr sz="2400" spc="-10" dirty="0">
                <a:latin typeface="+mn-lt"/>
                <a:cs typeface="Calibri"/>
              </a:rPr>
              <a:t>dataset</a:t>
            </a:r>
            <a:r>
              <a:rPr sz="2400" spc="-60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reliable</a:t>
            </a:r>
            <a:r>
              <a:rPr sz="2400" spc="-80" dirty="0">
                <a:latin typeface="+mn-lt"/>
                <a:cs typeface="Calibri"/>
              </a:rPr>
              <a:t> </a:t>
            </a:r>
            <a:r>
              <a:rPr sz="2400" dirty="0">
                <a:latin typeface="+mn-lt"/>
                <a:cs typeface="Calibri"/>
              </a:rPr>
              <a:t>for</a:t>
            </a:r>
            <a:r>
              <a:rPr sz="2400" spc="-30" dirty="0">
                <a:latin typeface="+mn-lt"/>
                <a:cs typeface="Calibri"/>
              </a:rPr>
              <a:t> </a:t>
            </a:r>
            <a:r>
              <a:rPr sz="2400" spc="-10" dirty="0">
                <a:latin typeface="+mn-lt"/>
                <a:cs typeface="Calibri"/>
              </a:rPr>
              <a:t>analysis.</a:t>
            </a:r>
            <a:endParaRPr sz="2400" dirty="0">
              <a:latin typeface="+mn-lt"/>
              <a:cs typeface="Calibri"/>
            </a:endParaRPr>
          </a:p>
          <a:p>
            <a:pPr marL="164465" indent="-158750">
              <a:lnSpc>
                <a:spcPct val="100000"/>
              </a:lnSpc>
              <a:spcBef>
                <a:spcPts val="2830"/>
              </a:spcBef>
              <a:buSzPct val="95833"/>
              <a:buChar char="•"/>
              <a:tabLst>
                <a:tab pos="164465" algn="l"/>
              </a:tabLst>
            </a:pPr>
            <a:r>
              <a:rPr lang="en-US" sz="2400" dirty="0">
                <a:latin typeface="+mn-lt"/>
              </a:rPr>
              <a:t>Univariate and bivariate analysis revealed important patterns related to price, area, and location</a:t>
            </a:r>
          </a:p>
          <a:p>
            <a:pPr marL="164465" indent="-158750">
              <a:lnSpc>
                <a:spcPct val="100000"/>
              </a:lnSpc>
              <a:spcBef>
                <a:spcPts val="2830"/>
              </a:spcBef>
              <a:buSzPct val="95833"/>
              <a:buChar char="•"/>
              <a:tabLst>
                <a:tab pos="164465" algn="l"/>
              </a:tabLst>
            </a:pPr>
            <a:r>
              <a:rPr lang="en-US" sz="2400" dirty="0">
                <a:latin typeface="+mn-lt"/>
              </a:rPr>
              <a:t>The insights gained from this analysis can support better real-estate decision-making and further predictive modeling.</a:t>
            </a:r>
            <a:endParaRPr sz="2400" dirty="0">
              <a:latin typeface="+mn-lt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37405" y="2469133"/>
            <a:ext cx="3720465" cy="941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00" b="0" dirty="0">
                <a:latin typeface="Calibri"/>
                <a:cs typeface="Calibri"/>
              </a:rPr>
              <a:t>THANK</a:t>
            </a:r>
            <a:r>
              <a:rPr sz="6000" b="0" spc="25" dirty="0">
                <a:latin typeface="Calibri"/>
                <a:cs typeface="Calibri"/>
              </a:rPr>
              <a:t> </a:t>
            </a:r>
            <a:r>
              <a:rPr sz="6000" b="0" spc="-45" dirty="0">
                <a:latin typeface="Calibri"/>
                <a:cs typeface="Calibri"/>
              </a:rPr>
              <a:t>YOU</a:t>
            </a:r>
            <a:endParaRPr sz="6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</TotalTime>
  <Words>951</Words>
  <Application>Microsoft Office PowerPoint</Application>
  <PresentationFormat>Widescreen</PresentationFormat>
  <Paragraphs>77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Yu Gothic UI Semibold</vt:lpstr>
      <vt:lpstr>Arial MT</vt:lpstr>
      <vt:lpstr>Calibri</vt:lpstr>
      <vt:lpstr>Wingdings</vt:lpstr>
      <vt:lpstr>Office Theme</vt:lpstr>
      <vt:lpstr>PRESENTATION ON</vt:lpstr>
      <vt:lpstr>INTRODUCTION</vt:lpstr>
      <vt:lpstr>OBJECTIVE</vt:lpstr>
      <vt:lpstr>DATA SET</vt:lpstr>
      <vt:lpstr>KEY COLUMNS OVERVIEW</vt:lpstr>
      <vt:lpstr>DATA UNDERSTANDING</vt:lpstr>
      <vt:lpstr>This function provides summary statistics for all numerical columns, such as mean, minimum, maximum, and standard deviation.</vt:lpstr>
      <vt:lpstr>DATA CLEANING</vt:lpstr>
      <vt:lpstr>HANDLING DUPLICATE VALUES</vt:lpstr>
      <vt:lpstr>DATA TYPE CORRECTION</vt:lpstr>
      <vt:lpstr>UNIVARIATE ANALYSIS (non-visualization)</vt:lpstr>
      <vt:lpstr>UNIVARIATE ANALYSIS</vt:lpstr>
      <vt:lpstr>PowerPoint Presentation</vt:lpstr>
      <vt:lpstr>BIVARIATE ANALYSIS (non-visualization)</vt:lpstr>
      <vt:lpstr>PowerPoint Presentation</vt:lpstr>
      <vt:lpstr>BIVARIATE ANALYSIS (visualization)</vt:lpstr>
      <vt:lpstr>PowerPoint Presentation</vt:lpstr>
      <vt:lpstr>PowerPoint Presentation</vt:lpstr>
      <vt:lpstr>OVERALL INSIGHTS</vt:lpstr>
      <vt:lpstr>CHALLENGES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KAVYA SAINI</dc:creator>
  <cp:lastModifiedBy>KAVYA SAINI</cp:lastModifiedBy>
  <cp:revision>3</cp:revision>
  <dcterms:created xsi:type="dcterms:W3CDTF">2026-01-06T16:46:41Z</dcterms:created>
  <dcterms:modified xsi:type="dcterms:W3CDTF">2026-01-08T03:58:03Z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2025-12-20T00:00:00Z</vt:filetime>
  </property>
  <property fmtid="{D5CDD505-2E9C-101B-9397-08002B2CF9AE}" pid="3" name="LastSaved">
    <vt:filetime>2026-01-06T00:00:00Z</vt:filetime>
  </property>
</Properties>
</file>